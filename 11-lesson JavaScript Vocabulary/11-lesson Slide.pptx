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572000"/>
            <a:ext cx="3840480" cy="3840480"/>
          </a:xfrm>
          <a:prstGeom prst="ellipse">
            <a:avLst/>
          </a:prstGeom>
          <a:solidFill>
            <a:srgbClr val="00A0E0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07040" y="4846320"/>
            <a:ext cx="1828800" cy="1828800"/>
          </a:xfrm>
          <a:prstGeom prst="ellipse">
            <a:avLst/>
          </a:prstGeom>
          <a:solidFill>
            <a:srgbClr val="6A2C91">
              <a:alpha val="18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502920"/>
            <a:ext cx="1051560" cy="1051560"/>
          </a:xfrm>
          <a:prstGeom prst="roundRect">
            <a:avLst>
              <a:gd name="adj" fmla="val 695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6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92" y="576072"/>
            <a:ext cx="905256" cy="90525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737360" y="548640"/>
            <a:ext cx="6400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«IT Shaharcha»</a:t>
            </a:r>
            <a:endParaRPr lang="en-US" sz="2000" dirty="0"/>
          </a:p>
        </p:txBody>
      </p:sp>
      <p:sp>
        <p:nvSpPr>
          <p:cNvPr id="8" name="Text 5"/>
          <p:cNvSpPr/>
          <p:nvPr/>
        </p:nvSpPr>
        <p:spPr>
          <a:xfrm>
            <a:off x="1737360" y="96012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200" kern="0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YOSHLAR AXBOROT TEXNOLOGIYALARI MARKAZI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94360" y="2103120"/>
            <a:ext cx="2377440" cy="502920"/>
          </a:xfrm>
          <a:prstGeom prst="roundRect">
            <a:avLst>
              <a:gd name="adj" fmla="val 49091"/>
            </a:avLst>
          </a:prstGeom>
          <a:solidFill>
            <a:srgbClr val="E6007E"/>
          </a:solidFill>
          <a:ln/>
        </p:spPr>
      </p:sp>
      <p:sp>
        <p:nvSpPr>
          <p:cNvPr id="10" name="Text 7"/>
          <p:cNvSpPr/>
          <p:nvPr/>
        </p:nvSpPr>
        <p:spPr>
          <a:xfrm>
            <a:off x="594360" y="21031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spc="200" kern="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— DARS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548640" y="2697480"/>
            <a:ext cx="1106424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JavaScript Vocabulary</a:t>
            </a:r>
            <a:endParaRPr lang="en-US" sz="5000" dirty="0"/>
          </a:p>
        </p:txBody>
      </p:sp>
      <p:sp>
        <p:nvSpPr>
          <p:cNvPr id="12" name="Text 9"/>
          <p:cNvSpPr/>
          <p:nvPr/>
        </p:nvSpPr>
        <p:spPr>
          <a:xfrm>
            <a:off x="594360" y="4526280"/>
            <a:ext cx="82296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D7DC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tushunchalari: variable, function, array, object, condition va loop.</a:t>
            </a:r>
            <a:endParaRPr lang="en-US" sz="1500" dirty="0"/>
          </a:p>
        </p:txBody>
      </p:sp>
      <p:sp>
        <p:nvSpPr>
          <p:cNvPr id="13" name="Shape 10"/>
          <p:cNvSpPr/>
          <p:nvPr/>
        </p:nvSpPr>
        <p:spPr>
          <a:xfrm>
            <a:off x="594360" y="594360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14" name="Shape 11"/>
          <p:cNvSpPr/>
          <p:nvPr/>
        </p:nvSpPr>
        <p:spPr>
          <a:xfrm>
            <a:off x="978408" y="594360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15" name="Shape 12"/>
          <p:cNvSpPr/>
          <p:nvPr/>
        </p:nvSpPr>
        <p:spPr>
          <a:xfrm>
            <a:off x="1362456" y="5943600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6" name="Shape 13"/>
          <p:cNvSpPr/>
          <p:nvPr/>
        </p:nvSpPr>
        <p:spPr>
          <a:xfrm>
            <a:off x="1746504" y="5943600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7" name="Shape 14"/>
          <p:cNvSpPr/>
          <p:nvPr/>
        </p:nvSpPr>
        <p:spPr>
          <a:xfrm>
            <a:off x="2130552" y="5943600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8" name="Shape 15"/>
          <p:cNvSpPr/>
          <p:nvPr/>
        </p:nvSpPr>
        <p:spPr>
          <a:xfrm>
            <a:off x="2514600" y="5943600"/>
            <a:ext cx="164592" cy="164592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9" name="Text 16"/>
          <p:cNvSpPr/>
          <p:nvPr/>
        </p:nvSpPr>
        <p:spPr>
          <a:xfrm>
            <a:off x="7955280" y="58978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daqiqa  ·  Boshlang'ich daraja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Dars maqsadi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Ushbu darsdan so'ng siz quyidagilarni o'rganasiz: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94460" y="2194560"/>
            <a:ext cx="914400" cy="91440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4772" y="2404872"/>
            <a:ext cx="493776" cy="493776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mohiyati</a:t>
            </a:r>
            <a:endParaRPr lang="en-US" sz="1800" dirty="0"/>
          </a:p>
        </p:txBody>
      </p:sp>
      <p:sp>
        <p:nvSpPr>
          <p:cNvPr id="11" name="Text 7"/>
          <p:cNvSpPr/>
          <p:nvPr/>
        </p:nvSpPr>
        <p:spPr>
          <a:xfrm>
            <a:off x="74980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mavzu nima ekanini va nega muhimligini tushunasiz.</a:t>
            </a:r>
            <a:endParaRPr lang="en-US" sz="1250" dirty="0"/>
          </a:p>
        </p:txBody>
      </p:sp>
      <p:sp>
        <p:nvSpPr>
          <p:cNvPr id="12" name="Shape 8"/>
          <p:cNvSpPr/>
          <p:nvPr/>
        </p:nvSpPr>
        <p:spPr>
          <a:xfrm>
            <a:off x="347472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4320540" y="2194560"/>
            <a:ext cx="914400" cy="91440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30852" y="2404872"/>
            <a:ext cx="493776" cy="493776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61188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Yangi terminlar</a:t>
            </a:r>
            <a:endParaRPr lang="en-US" sz="1800" dirty="0"/>
          </a:p>
        </p:txBody>
      </p:sp>
      <p:sp>
        <p:nvSpPr>
          <p:cNvPr id="16" name="Text 11"/>
          <p:cNvSpPr/>
          <p:nvPr/>
        </p:nvSpPr>
        <p:spPr>
          <a:xfrm>
            <a:off x="367588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ta muhim inglizcha so'zni o'rganasiz.</a:t>
            </a:r>
            <a:endParaRPr lang="en-US" sz="1250" dirty="0"/>
          </a:p>
        </p:txBody>
      </p:sp>
      <p:sp>
        <p:nvSpPr>
          <p:cNvPr id="17" name="Shape 12"/>
          <p:cNvSpPr/>
          <p:nvPr/>
        </p:nvSpPr>
        <p:spPr>
          <a:xfrm>
            <a:off x="640080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7246620" y="2194560"/>
            <a:ext cx="914400" cy="91440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56932" y="2404872"/>
            <a:ext cx="493776" cy="493776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53796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Iboralar</a:t>
            </a:r>
            <a:endParaRPr lang="en-US" sz="1800" dirty="0"/>
          </a:p>
        </p:txBody>
      </p:sp>
      <p:sp>
        <p:nvSpPr>
          <p:cNvPr id="21" name="Text 15"/>
          <p:cNvSpPr/>
          <p:nvPr/>
        </p:nvSpPr>
        <p:spPr>
          <a:xfrm>
            <a:off x="660196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ishlatiladigan tayyor gaplarni ko'rasiz.</a:t>
            </a:r>
            <a:endParaRPr lang="en-US" sz="1250" dirty="0"/>
          </a:p>
        </p:txBody>
      </p:sp>
      <p:sp>
        <p:nvSpPr>
          <p:cNvPr id="22" name="Shape 16"/>
          <p:cNvSpPr/>
          <p:nvPr/>
        </p:nvSpPr>
        <p:spPr>
          <a:xfrm>
            <a:off x="9326880" y="1828800"/>
            <a:ext cx="2606040" cy="3108960"/>
          </a:xfrm>
          <a:prstGeom prst="roundRect">
            <a:avLst>
              <a:gd name="adj" fmla="val 4211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10172700" y="2194560"/>
            <a:ext cx="914400" cy="91440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4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383012" y="2404872"/>
            <a:ext cx="493776" cy="493776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9464040" y="3246120"/>
            <a:ext cx="2331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Amaliyot</a:t>
            </a:r>
            <a:endParaRPr lang="en-US" sz="1800" dirty="0"/>
          </a:p>
        </p:txBody>
      </p:sp>
      <p:sp>
        <p:nvSpPr>
          <p:cNvPr id="26" name="Text 19"/>
          <p:cNvSpPr/>
          <p:nvPr/>
        </p:nvSpPr>
        <p:spPr>
          <a:xfrm>
            <a:off x="9528048" y="3794760"/>
            <a:ext cx="220370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Suhbat va mashqlar bilan mustahkamlaysiz.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11-dars</a:t>
            </a:r>
            <a:endParaRPr lang="en-US" sz="900" dirty="0"/>
          </a:p>
        </p:txBody>
      </p:sp>
      <p:sp>
        <p:nvSpPr>
          <p:cNvPr id="28" name="Text 2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00A0E0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Mavzu haqida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645920"/>
            <a:ext cx="612648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2000"/>
              </a:lnSpc>
              <a:buNone/>
            </a:pPr>
            <a:r>
              <a:rPr lang="en-US" sz="165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— saytlarni jonli qiluvchi til. variable, function, array kabi tushunchalar dasturlashning asosidir. Bu so'zlarni ingliz tilida tushunish kod o'qishni osonlashtiradi.</a:t>
            </a:r>
            <a:endParaRPr lang="en-US" sz="1650" dirty="0"/>
          </a:p>
        </p:txBody>
      </p:sp>
      <p:sp>
        <p:nvSpPr>
          <p:cNvPr id="7" name="Shape 4"/>
          <p:cNvSpPr/>
          <p:nvPr/>
        </p:nvSpPr>
        <p:spPr>
          <a:xfrm>
            <a:off x="6903720" y="1645920"/>
            <a:ext cx="4754880" cy="4114800"/>
          </a:xfrm>
          <a:prstGeom prst="roundRect">
            <a:avLst>
              <a:gd name="adj" fmla="val 3111"/>
            </a:avLst>
          </a:prstGeom>
          <a:solidFill>
            <a:srgbClr val="1B2A6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7178040" y="196596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200" kern="0" dirty="0">
                <a:solidFill>
                  <a:srgbClr val="9AA6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BUGUNGI KALIT SO'Z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7178040" y="2331720"/>
            <a:ext cx="42062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7FD4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Variable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178040" y="320040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C9D2F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[veriebl]</a:t>
            </a:r>
            <a:endParaRPr lang="en-US" sz="1500" dirty="0"/>
          </a:p>
        </p:txBody>
      </p:sp>
      <p:sp>
        <p:nvSpPr>
          <p:cNvPr id="11" name="Shape 8"/>
          <p:cNvSpPr/>
          <p:nvPr/>
        </p:nvSpPr>
        <p:spPr>
          <a:xfrm>
            <a:off x="7178040" y="3749040"/>
            <a:ext cx="4206240" cy="1737360"/>
          </a:xfrm>
          <a:prstGeom prst="roundRect">
            <a:avLst>
              <a:gd name="adj" fmla="val 5263"/>
            </a:avLst>
          </a:prstGeom>
          <a:solidFill>
            <a:srgbClr val="263680"/>
          </a:solidFill>
          <a:ln/>
        </p:spPr>
      </p:sp>
      <p:sp>
        <p:nvSpPr>
          <p:cNvPr id="12" name="Text 9"/>
          <p:cNvSpPr/>
          <p:nvPr/>
        </p:nvSpPr>
        <p:spPr>
          <a:xfrm>
            <a:off x="7406640" y="393192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O'zgaruvchi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11-dars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Nega bu mavzu muhim?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68680" y="2057400"/>
            <a:ext cx="868680" cy="86868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8992" y="2267712"/>
            <a:ext cx="448056" cy="448056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96596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Real ishda uchraydi</a:t>
            </a:r>
            <a:endParaRPr lang="en-US" sz="1900" dirty="0"/>
          </a:p>
        </p:txBody>
      </p:sp>
      <p:sp>
        <p:nvSpPr>
          <p:cNvPr id="10" name="Text 6"/>
          <p:cNvSpPr/>
          <p:nvPr/>
        </p:nvSpPr>
        <p:spPr>
          <a:xfrm>
            <a:off x="196596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terminlar kundalik dasturchilik ishida doimo qo'llaniladi.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6537960" y="155448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858000" y="2057400"/>
            <a:ext cx="868680" cy="86868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68312" y="2267712"/>
            <a:ext cx="448056" cy="448056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7955280" y="187452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Hujjat va docs</a:t>
            </a:r>
            <a:endParaRPr lang="en-US" sz="1900" dirty="0"/>
          </a:p>
        </p:txBody>
      </p:sp>
      <p:sp>
        <p:nvSpPr>
          <p:cNvPr id="15" name="Text 10"/>
          <p:cNvSpPr/>
          <p:nvPr/>
        </p:nvSpPr>
        <p:spPr>
          <a:xfrm>
            <a:off x="7955280" y="242316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qo'llanmalarni mustaqil o'qiy olasiz.</a:t>
            </a:r>
            <a:endParaRPr lang="en-US" sz="1350" dirty="0"/>
          </a:p>
        </p:txBody>
      </p:sp>
      <p:sp>
        <p:nvSpPr>
          <p:cNvPr id="16" name="Shape 11"/>
          <p:cNvSpPr/>
          <p:nvPr/>
        </p:nvSpPr>
        <p:spPr>
          <a:xfrm>
            <a:off x="54864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7" name="Shape 12"/>
          <p:cNvSpPr/>
          <p:nvPr/>
        </p:nvSpPr>
        <p:spPr>
          <a:xfrm>
            <a:off x="868680" y="4297680"/>
            <a:ext cx="868680" cy="86868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992" y="4507992"/>
            <a:ext cx="448056" cy="448056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96596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Xatolarni tushunish</a:t>
            </a:r>
            <a:endParaRPr lang="en-US" sz="1900" dirty="0"/>
          </a:p>
        </p:txBody>
      </p:sp>
      <p:sp>
        <p:nvSpPr>
          <p:cNvPr id="20" name="Text 14"/>
          <p:cNvSpPr/>
          <p:nvPr/>
        </p:nvSpPr>
        <p:spPr>
          <a:xfrm>
            <a:off x="196596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Inglizcha xabarlarni tushunib, muammoni tez hal qilasiz.</a:t>
            </a:r>
            <a:endParaRPr lang="en-US" sz="1350" dirty="0"/>
          </a:p>
        </p:txBody>
      </p:sp>
      <p:sp>
        <p:nvSpPr>
          <p:cNvPr id="21" name="Shape 15"/>
          <p:cNvSpPr/>
          <p:nvPr/>
        </p:nvSpPr>
        <p:spPr>
          <a:xfrm>
            <a:off x="6537960" y="3794760"/>
            <a:ext cx="5440680" cy="1874520"/>
          </a:xfrm>
          <a:prstGeom prst="roundRect">
            <a:avLst>
              <a:gd name="adj" fmla="val 48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2" name="Shape 16"/>
          <p:cNvSpPr/>
          <p:nvPr/>
        </p:nvSpPr>
        <p:spPr>
          <a:xfrm>
            <a:off x="6858000" y="4297680"/>
            <a:ext cx="868680" cy="86868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3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4507992"/>
            <a:ext cx="448056" cy="448056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7955280" y="4114800"/>
            <a:ext cx="3794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Muloqot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7955280" y="4663440"/>
            <a:ext cx="3794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Jamoa va mijozlar bilan ingliz tilida erkin gaplashasiz.</a:t>
            </a:r>
            <a:endParaRPr lang="en-US" sz="1350" dirty="0"/>
          </a:p>
        </p:txBody>
      </p:sp>
      <p:sp>
        <p:nvSpPr>
          <p:cNvPr id="26" name="Shape 19"/>
          <p:cNvSpPr/>
          <p:nvPr/>
        </p:nvSpPr>
        <p:spPr>
          <a:xfrm>
            <a:off x="548640" y="5806440"/>
            <a:ext cx="11091672" cy="566928"/>
          </a:xfrm>
          <a:prstGeom prst="roundRect">
            <a:avLst>
              <a:gd name="adj" fmla="val 50000"/>
            </a:avLst>
          </a:prstGeom>
          <a:solidFill>
            <a:srgbClr val="1B2A6B"/>
          </a:solidFill>
          <a:ln/>
        </p:spPr>
      </p:sp>
      <p:sp>
        <p:nvSpPr>
          <p:cNvPr id="27" name="Text 20"/>
          <p:cNvSpPr/>
          <p:nvPr/>
        </p:nvSpPr>
        <p:spPr>
          <a:xfrm>
            <a:off x="868680" y="5806440"/>
            <a:ext cx="10515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4AD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MASLAHAT   </a:t>
            </a:r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Terminlarni gap ichida, real misollar bilan o'rganing — shunda esda yaxshi qoladi.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11-dars</a:t>
            </a:r>
            <a:endParaRPr lang="en-US" sz="900" dirty="0"/>
          </a:p>
        </p:txBody>
      </p:sp>
      <p:sp>
        <p:nvSpPr>
          <p:cNvPr id="29" name="Text 22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8541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Asosiy terminlar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7" name="Shape 4"/>
          <p:cNvSpPr/>
          <p:nvPr/>
        </p:nvSpPr>
        <p:spPr>
          <a:xfrm>
            <a:off x="786384" y="1783080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Text 5"/>
          <p:cNvSpPr/>
          <p:nvPr/>
        </p:nvSpPr>
        <p:spPr>
          <a:xfrm>
            <a:off x="109728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Variable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283464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[veriebl]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O'zgaruvchi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4864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2" name="Shape 9"/>
          <p:cNvSpPr/>
          <p:nvPr/>
        </p:nvSpPr>
        <p:spPr>
          <a:xfrm>
            <a:off x="786384" y="2642616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3" name="Text 10"/>
          <p:cNvSpPr/>
          <p:nvPr/>
        </p:nvSpPr>
        <p:spPr>
          <a:xfrm>
            <a:off x="109728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Function</a:t>
            </a:r>
            <a:endParaRPr lang="en-US" sz="1600" dirty="0"/>
          </a:p>
        </p:txBody>
      </p:sp>
      <p:sp>
        <p:nvSpPr>
          <p:cNvPr id="14" name="Text 11"/>
          <p:cNvSpPr/>
          <p:nvPr/>
        </p:nvSpPr>
        <p:spPr>
          <a:xfrm>
            <a:off x="283464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[fankshn]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411480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</a:t>
            </a:r>
            <a:endParaRPr lang="en-US" sz="1150" dirty="0"/>
          </a:p>
        </p:txBody>
      </p:sp>
      <p:sp>
        <p:nvSpPr>
          <p:cNvPr id="16" name="Shape 13"/>
          <p:cNvSpPr/>
          <p:nvPr/>
        </p:nvSpPr>
        <p:spPr>
          <a:xfrm>
            <a:off x="54864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17" name="Shape 14"/>
          <p:cNvSpPr/>
          <p:nvPr/>
        </p:nvSpPr>
        <p:spPr>
          <a:xfrm>
            <a:off x="786384" y="3502152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8" name="Text 15"/>
          <p:cNvSpPr/>
          <p:nvPr/>
        </p:nvSpPr>
        <p:spPr>
          <a:xfrm>
            <a:off x="109728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Array</a:t>
            </a:r>
            <a:endParaRPr lang="en-US" sz="1600" dirty="0"/>
          </a:p>
        </p:txBody>
      </p:sp>
      <p:sp>
        <p:nvSpPr>
          <p:cNvPr id="19" name="Text 16"/>
          <p:cNvSpPr/>
          <p:nvPr/>
        </p:nvSpPr>
        <p:spPr>
          <a:xfrm>
            <a:off x="283464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[arrey]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411480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 (ro'yxat)</a:t>
            </a:r>
            <a:endParaRPr lang="en-US" sz="1150" dirty="0"/>
          </a:p>
        </p:txBody>
      </p:sp>
      <p:sp>
        <p:nvSpPr>
          <p:cNvPr id="21" name="Shape 18"/>
          <p:cNvSpPr/>
          <p:nvPr/>
        </p:nvSpPr>
        <p:spPr>
          <a:xfrm>
            <a:off x="54864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2" name="Shape 19"/>
          <p:cNvSpPr/>
          <p:nvPr/>
        </p:nvSpPr>
        <p:spPr>
          <a:xfrm>
            <a:off x="786384" y="4361688"/>
            <a:ext cx="164592" cy="164592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23" name="Text 20"/>
          <p:cNvSpPr/>
          <p:nvPr/>
        </p:nvSpPr>
        <p:spPr>
          <a:xfrm>
            <a:off x="109728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283464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[object]</a:t>
            </a:r>
            <a:endParaRPr lang="en-US" sz="1150" dirty="0"/>
          </a:p>
        </p:txBody>
      </p:sp>
      <p:sp>
        <p:nvSpPr>
          <p:cNvPr id="25" name="Text 22"/>
          <p:cNvSpPr/>
          <p:nvPr/>
        </p:nvSpPr>
        <p:spPr>
          <a:xfrm>
            <a:off x="411480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Obyekt</a:t>
            </a:r>
            <a:endParaRPr lang="en-US" sz="1150" dirty="0"/>
          </a:p>
        </p:txBody>
      </p:sp>
      <p:sp>
        <p:nvSpPr>
          <p:cNvPr id="26" name="Shape 23"/>
          <p:cNvSpPr/>
          <p:nvPr/>
        </p:nvSpPr>
        <p:spPr>
          <a:xfrm>
            <a:off x="6537960" y="1481328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27" name="Shape 24"/>
          <p:cNvSpPr/>
          <p:nvPr/>
        </p:nvSpPr>
        <p:spPr>
          <a:xfrm>
            <a:off x="6775704" y="1783080"/>
            <a:ext cx="164592" cy="164592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28" name="Text 25"/>
          <p:cNvSpPr/>
          <p:nvPr/>
        </p:nvSpPr>
        <p:spPr>
          <a:xfrm>
            <a:off x="7086600" y="1481328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</a:t>
            </a:r>
            <a:endParaRPr lang="en-US" sz="1600" dirty="0"/>
          </a:p>
        </p:txBody>
      </p:sp>
      <p:sp>
        <p:nvSpPr>
          <p:cNvPr id="29" name="Text 26"/>
          <p:cNvSpPr/>
          <p:nvPr/>
        </p:nvSpPr>
        <p:spPr>
          <a:xfrm>
            <a:off x="8823960" y="1481328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[kondishn]</a:t>
            </a:r>
            <a:endParaRPr lang="en-US" sz="1150" dirty="0"/>
          </a:p>
        </p:txBody>
      </p:sp>
      <p:sp>
        <p:nvSpPr>
          <p:cNvPr id="30" name="Text 27"/>
          <p:cNvSpPr/>
          <p:nvPr/>
        </p:nvSpPr>
        <p:spPr>
          <a:xfrm>
            <a:off x="10104120" y="1481328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Shart</a:t>
            </a:r>
            <a:endParaRPr lang="en-US" sz="1150" dirty="0"/>
          </a:p>
        </p:txBody>
      </p:sp>
      <p:sp>
        <p:nvSpPr>
          <p:cNvPr id="31" name="Shape 28"/>
          <p:cNvSpPr/>
          <p:nvPr/>
        </p:nvSpPr>
        <p:spPr>
          <a:xfrm>
            <a:off x="6537960" y="2340864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2" name="Shape 29"/>
          <p:cNvSpPr/>
          <p:nvPr/>
        </p:nvSpPr>
        <p:spPr>
          <a:xfrm>
            <a:off x="6775704" y="2642616"/>
            <a:ext cx="164592" cy="164592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33" name="Text 30"/>
          <p:cNvSpPr/>
          <p:nvPr/>
        </p:nvSpPr>
        <p:spPr>
          <a:xfrm>
            <a:off x="7086600" y="2340864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Loop</a:t>
            </a:r>
            <a:endParaRPr lang="en-US" sz="1600" dirty="0"/>
          </a:p>
        </p:txBody>
      </p:sp>
      <p:sp>
        <p:nvSpPr>
          <p:cNvPr id="34" name="Text 31"/>
          <p:cNvSpPr/>
          <p:nvPr/>
        </p:nvSpPr>
        <p:spPr>
          <a:xfrm>
            <a:off x="8823960" y="2340864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[lup]</a:t>
            </a:r>
            <a:endParaRPr lang="en-US" sz="1150" dirty="0"/>
          </a:p>
        </p:txBody>
      </p:sp>
      <p:sp>
        <p:nvSpPr>
          <p:cNvPr id="35" name="Text 32"/>
          <p:cNvSpPr/>
          <p:nvPr/>
        </p:nvSpPr>
        <p:spPr>
          <a:xfrm>
            <a:off x="10104120" y="2340864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Takrorlash (sikl)</a:t>
            </a:r>
            <a:endParaRPr lang="en-US" sz="1150" dirty="0"/>
          </a:p>
        </p:txBody>
      </p:sp>
      <p:sp>
        <p:nvSpPr>
          <p:cNvPr id="36" name="Shape 33"/>
          <p:cNvSpPr/>
          <p:nvPr/>
        </p:nvSpPr>
        <p:spPr>
          <a:xfrm>
            <a:off x="6537960" y="3200400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37" name="Shape 34"/>
          <p:cNvSpPr/>
          <p:nvPr/>
        </p:nvSpPr>
        <p:spPr>
          <a:xfrm>
            <a:off x="6775704" y="3502152"/>
            <a:ext cx="164592" cy="164592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38" name="Text 35"/>
          <p:cNvSpPr/>
          <p:nvPr/>
        </p:nvSpPr>
        <p:spPr>
          <a:xfrm>
            <a:off x="7086600" y="3200400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Value</a:t>
            </a:r>
            <a:endParaRPr lang="en-US" sz="1600" dirty="0"/>
          </a:p>
        </p:txBody>
      </p:sp>
      <p:sp>
        <p:nvSpPr>
          <p:cNvPr id="39" name="Text 36"/>
          <p:cNvSpPr/>
          <p:nvPr/>
        </p:nvSpPr>
        <p:spPr>
          <a:xfrm>
            <a:off x="8823960" y="3200400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[valyu]</a:t>
            </a:r>
            <a:endParaRPr lang="en-US" sz="1150" dirty="0"/>
          </a:p>
        </p:txBody>
      </p:sp>
      <p:sp>
        <p:nvSpPr>
          <p:cNvPr id="40" name="Text 37"/>
          <p:cNvSpPr/>
          <p:nvPr/>
        </p:nvSpPr>
        <p:spPr>
          <a:xfrm>
            <a:off x="10104120" y="3200400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Qiymat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537960" y="4059936"/>
            <a:ext cx="5486400" cy="768096"/>
          </a:xfrm>
          <a:prstGeom prst="roundRect">
            <a:avLst>
              <a:gd name="adj" fmla="val 9524"/>
            </a:avLst>
          </a:prstGeom>
          <a:solidFill>
            <a:srgbClr val="F4F6FB"/>
          </a:solidFill>
          <a:ln/>
        </p:spPr>
      </p:sp>
      <p:sp>
        <p:nvSpPr>
          <p:cNvPr id="42" name="Shape 39"/>
          <p:cNvSpPr/>
          <p:nvPr/>
        </p:nvSpPr>
        <p:spPr>
          <a:xfrm>
            <a:off x="6775704" y="4361688"/>
            <a:ext cx="164592" cy="164592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43" name="Text 40"/>
          <p:cNvSpPr/>
          <p:nvPr/>
        </p:nvSpPr>
        <p:spPr>
          <a:xfrm>
            <a:off x="7086600" y="4059936"/>
            <a:ext cx="196596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String</a:t>
            </a:r>
            <a:endParaRPr lang="en-US" sz="1600" dirty="0"/>
          </a:p>
        </p:txBody>
      </p:sp>
      <p:sp>
        <p:nvSpPr>
          <p:cNvPr id="44" name="Text 41"/>
          <p:cNvSpPr/>
          <p:nvPr/>
        </p:nvSpPr>
        <p:spPr>
          <a:xfrm>
            <a:off x="8823960" y="4059936"/>
            <a:ext cx="132588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E6007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[string]</a:t>
            </a:r>
            <a:endParaRPr lang="en-US" sz="1150" dirty="0"/>
          </a:p>
        </p:txBody>
      </p:sp>
      <p:sp>
        <p:nvSpPr>
          <p:cNvPr id="45" name="Text 42"/>
          <p:cNvSpPr/>
          <p:nvPr/>
        </p:nvSpPr>
        <p:spPr>
          <a:xfrm>
            <a:off x="10104120" y="4059936"/>
            <a:ext cx="1828800" cy="7680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A4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Matn (so'z qatori)</a:t>
            </a:r>
            <a:endParaRPr lang="en-US" sz="1150" dirty="0"/>
          </a:p>
        </p:txBody>
      </p:sp>
      <p:sp>
        <p:nvSpPr>
          <p:cNvPr id="46" name="Text 43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11-dars</a:t>
            </a:r>
            <a:endParaRPr lang="en-US" sz="900" dirty="0"/>
          </a:p>
        </p:txBody>
      </p:sp>
      <p:sp>
        <p:nvSpPr>
          <p:cNvPr id="47" name="Text 44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6A2C9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Foydali iboralar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Terminlar gap ichida — aynan shunday ular real ishda ishlatiladi: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548640" y="1828800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914400" y="2034540"/>
            <a:ext cx="822960" cy="822960"/>
          </a:xfrm>
          <a:prstGeom prst="ellipse">
            <a:avLst/>
          </a:prstGeom>
          <a:solidFill>
            <a:srgbClr val="00A0E0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15568" y="2235708"/>
            <a:ext cx="420624" cy="42062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011680" y="1993392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"Create a variable to store the name."</a:t>
            </a:r>
            <a:endParaRPr lang="en-US" sz="1900" dirty="0"/>
          </a:p>
        </p:txBody>
      </p:sp>
      <p:sp>
        <p:nvSpPr>
          <p:cNvPr id="11" name="Text 7"/>
          <p:cNvSpPr/>
          <p:nvPr/>
        </p:nvSpPr>
        <p:spPr>
          <a:xfrm>
            <a:off x="2011680" y="2542032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Ismni saqlash uchun o'zgaruvchi yarating.</a:t>
            </a:r>
            <a:endParaRPr lang="en-US" sz="1400" dirty="0"/>
          </a:p>
        </p:txBody>
      </p:sp>
      <p:sp>
        <p:nvSpPr>
          <p:cNvPr id="12" name="Shape 8"/>
          <p:cNvSpPr/>
          <p:nvPr/>
        </p:nvSpPr>
        <p:spPr>
          <a:xfrm>
            <a:off x="548640" y="3355848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914400" y="3561588"/>
            <a:ext cx="822960" cy="82296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5568" y="3762756"/>
            <a:ext cx="420624" cy="4206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011680" y="3520440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"This function returns a value."</a:t>
            </a:r>
            <a:endParaRPr lang="en-US" sz="1900" dirty="0"/>
          </a:p>
        </p:txBody>
      </p:sp>
      <p:sp>
        <p:nvSpPr>
          <p:cNvPr id="16" name="Text 11"/>
          <p:cNvSpPr/>
          <p:nvPr/>
        </p:nvSpPr>
        <p:spPr>
          <a:xfrm>
            <a:off x="2011680" y="4069080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 funksiya qiymat qaytaradi.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548640" y="4882896"/>
            <a:ext cx="11091672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914400" y="5088636"/>
            <a:ext cx="822960" cy="82296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568" y="5289804"/>
            <a:ext cx="420624" cy="420624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2011680" y="5047488"/>
            <a:ext cx="935431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"Loop through the array."</a:t>
            </a:r>
            <a:endParaRPr lang="en-US" sz="1900" dirty="0"/>
          </a:p>
        </p:txBody>
      </p:sp>
      <p:sp>
        <p:nvSpPr>
          <p:cNvPr id="21" name="Text 15"/>
          <p:cNvSpPr/>
          <p:nvPr/>
        </p:nvSpPr>
        <p:spPr>
          <a:xfrm>
            <a:off x="2011680" y="5596128"/>
            <a:ext cx="935431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Massiv bo'ylab takrorlang.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11-dars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E6007E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Mini suhbat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48640" y="123444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Mavzuga oid qisqa suhbat: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640080" y="1943100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40080" y="1943100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1554480" y="1783080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1874520" y="1920240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 variable?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1874520" y="2377440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O'zgaruvchi nima?</a:t>
            </a:r>
            <a:endParaRPr lang="en-US" sz="1250" dirty="0"/>
          </a:p>
        </p:txBody>
      </p:sp>
      <p:sp>
        <p:nvSpPr>
          <p:cNvPr id="12" name="Shape 9"/>
          <p:cNvSpPr/>
          <p:nvPr/>
        </p:nvSpPr>
        <p:spPr>
          <a:xfrm>
            <a:off x="10820095" y="3159252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10820095" y="3159252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14" name="Shape 11"/>
          <p:cNvSpPr/>
          <p:nvPr/>
        </p:nvSpPr>
        <p:spPr>
          <a:xfrm>
            <a:off x="3047695" y="2999232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Text 12"/>
          <p:cNvSpPr/>
          <p:nvPr/>
        </p:nvSpPr>
        <p:spPr>
          <a:xfrm>
            <a:off x="3367735" y="3136392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 stores a value, like a box.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3367735" y="3593592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qiymatni saqlaydi, quti kabi.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0080" y="4375404"/>
            <a:ext cx="731520" cy="731520"/>
          </a:xfrm>
          <a:prstGeom prst="ellipse">
            <a:avLst/>
          </a:prstGeom>
          <a:solidFill>
            <a:srgbClr val="00A0E0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40080" y="4375404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</a:t>
            </a:r>
            <a:endParaRPr lang="en-US" sz="2400" dirty="0"/>
          </a:p>
        </p:txBody>
      </p:sp>
      <p:sp>
        <p:nvSpPr>
          <p:cNvPr id="19" name="Shape 16"/>
          <p:cNvSpPr/>
          <p:nvPr/>
        </p:nvSpPr>
        <p:spPr>
          <a:xfrm>
            <a:off x="1554480" y="4215384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4F6FB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1874520" y="4352544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And a function?</a:t>
            </a:r>
            <a:endParaRPr lang="en-US" sz="1600" dirty="0"/>
          </a:p>
        </p:txBody>
      </p:sp>
      <p:sp>
        <p:nvSpPr>
          <p:cNvPr id="21" name="Text 18"/>
          <p:cNvSpPr/>
          <p:nvPr/>
        </p:nvSpPr>
        <p:spPr>
          <a:xfrm>
            <a:off x="1874520" y="4809744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Funksiya-chi?</a:t>
            </a:r>
            <a:endParaRPr lang="en-US" sz="1250" dirty="0"/>
          </a:p>
        </p:txBody>
      </p:sp>
      <p:sp>
        <p:nvSpPr>
          <p:cNvPr id="22" name="Shape 19"/>
          <p:cNvSpPr/>
          <p:nvPr/>
        </p:nvSpPr>
        <p:spPr>
          <a:xfrm>
            <a:off x="10820095" y="5591556"/>
            <a:ext cx="731520" cy="731520"/>
          </a:xfrm>
          <a:prstGeom prst="ellipse">
            <a:avLst/>
          </a:prstGeom>
          <a:solidFill>
            <a:srgbClr val="E6007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3" name="Text 20"/>
          <p:cNvSpPr/>
          <p:nvPr/>
        </p:nvSpPr>
        <p:spPr>
          <a:xfrm>
            <a:off x="10820095" y="5591556"/>
            <a:ext cx="731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</a:t>
            </a:r>
            <a:endParaRPr lang="en-US" sz="2400" dirty="0"/>
          </a:p>
        </p:txBody>
      </p:sp>
      <p:sp>
        <p:nvSpPr>
          <p:cNvPr id="24" name="Shape 21"/>
          <p:cNvSpPr/>
          <p:nvPr/>
        </p:nvSpPr>
        <p:spPr>
          <a:xfrm>
            <a:off x="3047695" y="5431536"/>
            <a:ext cx="7680960" cy="1051560"/>
          </a:xfrm>
          <a:prstGeom prst="roundRect">
            <a:avLst>
              <a:gd name="adj" fmla="val 10435"/>
            </a:avLst>
          </a:prstGeom>
          <a:solidFill>
            <a:srgbClr val="FCEBF4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25" name="Text 22"/>
          <p:cNvSpPr/>
          <p:nvPr/>
        </p:nvSpPr>
        <p:spPr>
          <a:xfrm>
            <a:off x="3367735" y="5568696"/>
            <a:ext cx="70408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It's a block of code that does a task.</a:t>
            </a:r>
            <a:endParaRPr lang="en-US" sz="1600" dirty="0"/>
          </a:p>
        </p:txBody>
      </p:sp>
      <p:sp>
        <p:nvSpPr>
          <p:cNvPr id="26" name="Text 23"/>
          <p:cNvSpPr/>
          <p:nvPr/>
        </p:nvSpPr>
        <p:spPr>
          <a:xfrm>
            <a:off x="3367735" y="6025896"/>
            <a:ext cx="7040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 bir vazifani bajaradigan kod bloki.</a:t>
            </a:r>
            <a:endParaRPr lang="en-US" sz="1250" dirty="0"/>
          </a:p>
        </p:txBody>
      </p:sp>
      <p:sp>
        <p:nvSpPr>
          <p:cNvPr id="27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11-dars</a:t>
            </a:r>
            <a:endParaRPr lang="en-US" sz="900" dirty="0"/>
          </a:p>
        </p:txBody>
      </p:sp>
      <p:sp>
        <p:nvSpPr>
          <p:cNvPr id="28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457200"/>
            <a:ext cx="566928" cy="566928"/>
          </a:xfrm>
          <a:prstGeom prst="roundRect">
            <a:avLst>
              <a:gd name="adj" fmla="val 16129"/>
            </a:avLst>
          </a:prstGeom>
          <a:solidFill>
            <a:srgbClr val="3AA935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234440" y="457200"/>
            <a:ext cx="8686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B2A6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Amaliy mashq</a:t>
            </a:r>
            <a:endParaRPr lang="en-US" sz="2400" dirty="0"/>
          </a:p>
        </p:txBody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48695" y="457200"/>
            <a:ext cx="566928" cy="56692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48640" y="1600200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804672" y="1833372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8" name="Text 5"/>
          <p:cNvSpPr/>
          <p:nvPr/>
        </p:nvSpPr>
        <p:spPr>
          <a:xfrm>
            <a:off x="804672" y="1833372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417320" y="1600200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“O'zgaruvchi” — inglizchasi qaysi so'z?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548640" y="2670048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804672" y="2903220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2" name="Text 9"/>
          <p:cNvSpPr/>
          <p:nvPr/>
        </p:nvSpPr>
        <p:spPr>
          <a:xfrm>
            <a:off x="804672" y="2903220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1417320" y="2670048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Tarjima qiling: «Ismni saqlash uchun o'zgaruvchi yarating.»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548640" y="3739896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5" name="Shape 12"/>
          <p:cNvSpPr/>
          <p:nvPr/>
        </p:nvSpPr>
        <p:spPr>
          <a:xfrm>
            <a:off x="804672" y="3973068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6" name="Text 13"/>
          <p:cNvSpPr/>
          <p:nvPr/>
        </p:nvSpPr>
        <p:spPr>
          <a:xfrm>
            <a:off x="804672" y="3973068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17" name="Text 14"/>
          <p:cNvSpPr/>
          <p:nvPr/>
        </p:nvSpPr>
        <p:spPr>
          <a:xfrm>
            <a:off x="1417320" y="3739896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 keltiring: Function · Array · Object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548640" y="4809744"/>
            <a:ext cx="6949440" cy="868680"/>
          </a:xfrm>
          <a:prstGeom prst="roundRect">
            <a:avLst>
              <a:gd name="adj" fmla="val 9474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804672" y="5042916"/>
            <a:ext cx="402336" cy="402336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20" name="Text 17"/>
          <p:cNvSpPr/>
          <p:nvPr/>
        </p:nvSpPr>
        <p:spPr>
          <a:xfrm>
            <a:off x="804672" y="5042916"/>
            <a:ext cx="402336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1" name="Text 18"/>
          <p:cNvSpPr/>
          <p:nvPr/>
        </p:nvSpPr>
        <p:spPr>
          <a:xfrm>
            <a:off x="1417320" y="4809744"/>
            <a:ext cx="5897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F22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“Variable” so'zi bilan bitta inglizcha gap tuzing.</a:t>
            </a:r>
            <a:endParaRPr lang="en-US" sz="1400" dirty="0"/>
          </a:p>
        </p:txBody>
      </p:sp>
      <p:sp>
        <p:nvSpPr>
          <p:cNvPr id="22" name="Shape 19"/>
          <p:cNvSpPr/>
          <p:nvPr/>
        </p:nvSpPr>
        <p:spPr>
          <a:xfrm>
            <a:off x="7772400" y="1600200"/>
            <a:ext cx="3867912" cy="4498848"/>
          </a:xfrm>
          <a:prstGeom prst="roundRect">
            <a:avLst>
              <a:gd name="adj" fmla="val 3310"/>
            </a:avLst>
          </a:prstGeom>
          <a:solidFill>
            <a:srgbClr val="E8541E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2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92440" y="1920240"/>
            <a:ext cx="640080" cy="640080"/>
          </a:xfrm>
          <a:prstGeom prst="rect">
            <a:avLst/>
          </a:prstGeom>
        </p:spPr>
      </p:pic>
      <p:sp>
        <p:nvSpPr>
          <p:cNvPr id="24" name="Text 20"/>
          <p:cNvSpPr/>
          <p:nvPr/>
        </p:nvSpPr>
        <p:spPr>
          <a:xfrm>
            <a:off x="8823960" y="19202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Uy vazifasi</a:t>
            </a:r>
            <a:endParaRPr lang="en-US" sz="2400" dirty="0"/>
          </a:p>
        </p:txBody>
      </p:sp>
      <p:sp>
        <p:nvSpPr>
          <p:cNvPr id="25" name="Text 21"/>
          <p:cNvSpPr/>
          <p:nvPr/>
        </p:nvSpPr>
        <p:spPr>
          <a:xfrm>
            <a:off x="8092440" y="2788920"/>
            <a:ext cx="32461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Bugun o'rgangan barcha terminlarni daftaringizga yozing va har biri bilan bittadan inglizcha gap tuzing.</a:t>
            </a:r>
            <a:endParaRPr lang="en-US" sz="1500" dirty="0"/>
          </a:p>
        </p:txBody>
      </p:sp>
      <p:sp>
        <p:nvSpPr>
          <p:cNvPr id="26" name="Shape 22"/>
          <p:cNvSpPr/>
          <p:nvPr/>
        </p:nvSpPr>
        <p:spPr>
          <a:xfrm>
            <a:off x="8092440" y="5029200"/>
            <a:ext cx="3246120" cy="777240"/>
          </a:xfrm>
          <a:prstGeom prst="roundRect">
            <a:avLst>
              <a:gd name="adj" fmla="val 11765"/>
            </a:avLst>
          </a:prstGeom>
          <a:solidFill>
            <a:srgbClr val="FFFFFF">
              <a:alpha val="88000"/>
            </a:srgbClr>
          </a:solidFill>
          <a:ln/>
        </p:spPr>
      </p:sp>
      <p:sp>
        <p:nvSpPr>
          <p:cNvPr id="27" name="Text 23"/>
          <p:cNvSpPr/>
          <p:nvPr/>
        </p:nvSpPr>
        <p:spPr>
          <a:xfrm>
            <a:off x="8092440" y="5029200"/>
            <a:ext cx="32461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Keyingi darsda tekshiramiz!</a:t>
            </a:r>
            <a:endParaRPr lang="en-US" sz="1400" dirty="0"/>
          </a:p>
        </p:txBody>
      </p:sp>
      <p:sp>
        <p:nvSpPr>
          <p:cNvPr id="28" name="Text 24"/>
          <p:cNvSpPr/>
          <p:nvPr/>
        </p:nvSpPr>
        <p:spPr>
          <a:xfrm>
            <a:off x="548640" y="640080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«IT Shaharcha»</a:t>
            </a:r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·   IT English · 11-dars</a:t>
            </a:r>
            <a:endParaRPr lang="en-US" sz="900" dirty="0"/>
          </a:p>
        </p:txBody>
      </p:sp>
      <p:sp>
        <p:nvSpPr>
          <p:cNvPr id="29" name="Text 25"/>
          <p:cNvSpPr/>
          <p:nvPr/>
        </p:nvSpPr>
        <p:spPr>
          <a:xfrm>
            <a:off x="10728655" y="6400800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F5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280160" y="-1463040"/>
            <a:ext cx="4114800" cy="4114800"/>
          </a:xfrm>
          <a:prstGeom prst="ellipse">
            <a:avLst/>
          </a:prstGeom>
          <a:solidFill>
            <a:srgbClr val="6A2C91">
              <a:alpha val="2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058400" y="4206240"/>
            <a:ext cx="3657600" cy="3657600"/>
          </a:xfrm>
          <a:prstGeom prst="ellipse">
            <a:avLst/>
          </a:prstGeom>
          <a:solidFill>
            <a:srgbClr val="E6007E">
              <a:alpha val="2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0637215" y="457200"/>
            <a:ext cx="9601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14300" dist="38100" dir="5400000">
              <a:srgbClr val="8895B3">
                <a:alpha val="22000"/>
              </a:srgbClr>
            </a:outerShdw>
          </a:effectLst>
        </p:spPr>
      </p:sp>
      <p:pic>
        <p:nvPicPr>
          <p:cNvPr id="5" name="Image 0" descr="/sessions/epic-sharp-feynman/mnt/it_inglish/logo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10367" y="530352"/>
            <a:ext cx="813816" cy="8138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64008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Esda saqlang</a:t>
            </a:r>
            <a:endParaRPr lang="en-US" sz="4000" dirty="0"/>
          </a:p>
        </p:txBody>
      </p:sp>
      <p:sp>
        <p:nvSpPr>
          <p:cNvPr id="7" name="Shape 4"/>
          <p:cNvSpPr/>
          <p:nvPr/>
        </p:nvSpPr>
        <p:spPr>
          <a:xfrm>
            <a:off x="685800" y="1554480"/>
            <a:ext cx="146304" cy="146304"/>
          </a:xfrm>
          <a:prstGeom prst="ellipse">
            <a:avLst/>
          </a:prstGeom>
          <a:solidFill>
            <a:srgbClr val="E6007E"/>
          </a:solidFill>
          <a:ln/>
        </p:spPr>
      </p:sp>
      <p:sp>
        <p:nvSpPr>
          <p:cNvPr id="8" name="Shape 5"/>
          <p:cNvSpPr/>
          <p:nvPr/>
        </p:nvSpPr>
        <p:spPr>
          <a:xfrm>
            <a:off x="1051560" y="1554480"/>
            <a:ext cx="146304" cy="146304"/>
          </a:xfrm>
          <a:prstGeom prst="ellipse">
            <a:avLst/>
          </a:prstGeom>
          <a:solidFill>
            <a:srgbClr val="6A2C91"/>
          </a:solidFill>
          <a:ln/>
        </p:spPr>
      </p:sp>
      <p:sp>
        <p:nvSpPr>
          <p:cNvPr id="9" name="Shape 6"/>
          <p:cNvSpPr/>
          <p:nvPr/>
        </p:nvSpPr>
        <p:spPr>
          <a:xfrm>
            <a:off x="1417320" y="1554480"/>
            <a:ext cx="146304" cy="146304"/>
          </a:xfrm>
          <a:prstGeom prst="ellipse">
            <a:avLst/>
          </a:prstGeom>
          <a:solidFill>
            <a:srgbClr val="E8541E"/>
          </a:solidFill>
          <a:ln/>
        </p:spPr>
      </p:sp>
      <p:sp>
        <p:nvSpPr>
          <p:cNvPr id="10" name="Shape 7"/>
          <p:cNvSpPr/>
          <p:nvPr/>
        </p:nvSpPr>
        <p:spPr>
          <a:xfrm>
            <a:off x="1783080" y="1554480"/>
            <a:ext cx="146304" cy="146304"/>
          </a:xfrm>
          <a:prstGeom prst="ellipse">
            <a:avLst/>
          </a:prstGeom>
          <a:solidFill>
            <a:srgbClr val="3AA935"/>
          </a:solidFill>
          <a:ln/>
        </p:spPr>
      </p:sp>
      <p:sp>
        <p:nvSpPr>
          <p:cNvPr id="11" name="Shape 8"/>
          <p:cNvSpPr/>
          <p:nvPr/>
        </p:nvSpPr>
        <p:spPr>
          <a:xfrm>
            <a:off x="2148840" y="1554480"/>
            <a:ext cx="146304" cy="146304"/>
          </a:xfrm>
          <a:prstGeom prst="ellipse">
            <a:avLst/>
          </a:prstGeom>
          <a:solidFill>
            <a:srgbClr val="00A0E0"/>
          </a:solidFill>
          <a:ln/>
        </p:spPr>
      </p:sp>
      <p:sp>
        <p:nvSpPr>
          <p:cNvPr id="12" name="Shape 9"/>
          <p:cNvSpPr/>
          <p:nvPr/>
        </p:nvSpPr>
        <p:spPr>
          <a:xfrm>
            <a:off x="2514600" y="1554480"/>
            <a:ext cx="146304" cy="146304"/>
          </a:xfrm>
          <a:prstGeom prst="ellipse">
            <a:avLst/>
          </a:prstGeom>
          <a:solidFill>
            <a:srgbClr val="F4AD00"/>
          </a:solidFill>
          <a:ln/>
        </p:spPr>
      </p:sp>
      <p:sp>
        <p:nvSpPr>
          <p:cNvPr id="13" name="Shape 10"/>
          <p:cNvSpPr/>
          <p:nvPr/>
        </p:nvSpPr>
        <p:spPr>
          <a:xfrm>
            <a:off x="640080" y="2148840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868680" y="2295144"/>
            <a:ext cx="548640" cy="548640"/>
          </a:xfrm>
          <a:prstGeom prst="ellipse">
            <a:avLst/>
          </a:prstGeom>
          <a:solidFill>
            <a:srgbClr val="E6007E"/>
          </a:solidFill>
          <a:ln/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14984" y="2441448"/>
            <a:ext cx="256032" cy="256032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1645920" y="2148840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«JavaScript Vocabulary» bo'yicha 8 ta muhim termin o'rgandingiz.</a:t>
            </a:r>
            <a:endParaRPr lang="en-US" sz="1600" dirty="0"/>
          </a:p>
        </p:txBody>
      </p:sp>
      <p:sp>
        <p:nvSpPr>
          <p:cNvPr id="17" name="Shape 13"/>
          <p:cNvSpPr/>
          <p:nvPr/>
        </p:nvSpPr>
        <p:spPr>
          <a:xfrm>
            <a:off x="640080" y="3191256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18" name="Shape 14"/>
          <p:cNvSpPr/>
          <p:nvPr/>
        </p:nvSpPr>
        <p:spPr>
          <a:xfrm>
            <a:off x="868680" y="3337560"/>
            <a:ext cx="548640" cy="548640"/>
          </a:xfrm>
          <a:prstGeom prst="ellipse">
            <a:avLst/>
          </a:prstGeom>
          <a:solidFill>
            <a:srgbClr val="6A2C91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4984" y="3483864"/>
            <a:ext cx="256032" cy="25603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1645920" y="3191256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So'zlarni kontekst — gap ichida yodlang, alohida emas.</a:t>
            </a:r>
            <a:endParaRPr lang="en-US" sz="1600" dirty="0"/>
          </a:p>
        </p:txBody>
      </p:sp>
      <p:sp>
        <p:nvSpPr>
          <p:cNvPr id="21" name="Shape 16"/>
          <p:cNvSpPr/>
          <p:nvPr/>
        </p:nvSpPr>
        <p:spPr>
          <a:xfrm>
            <a:off x="640080" y="4233672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2" name="Shape 17"/>
          <p:cNvSpPr/>
          <p:nvPr/>
        </p:nvSpPr>
        <p:spPr>
          <a:xfrm>
            <a:off x="868680" y="4379976"/>
            <a:ext cx="548640" cy="548640"/>
          </a:xfrm>
          <a:prstGeom prst="ellipse">
            <a:avLst/>
          </a:prstGeom>
          <a:solidFill>
            <a:srgbClr val="E8541E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4984" y="4526280"/>
            <a:ext cx="256032" cy="256032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645920" y="4233672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Kod, hujjat va ish — barchasi ingliz tilini talab qiladi.</a:t>
            </a:r>
            <a:endParaRPr lang="en-US" sz="1600" dirty="0"/>
          </a:p>
        </p:txBody>
      </p:sp>
      <p:sp>
        <p:nvSpPr>
          <p:cNvPr id="25" name="Shape 19"/>
          <p:cNvSpPr/>
          <p:nvPr/>
        </p:nvSpPr>
        <p:spPr>
          <a:xfrm>
            <a:off x="640080" y="5276088"/>
            <a:ext cx="10881360" cy="841248"/>
          </a:xfrm>
          <a:prstGeom prst="roundRect">
            <a:avLst>
              <a:gd name="adj" fmla="val 10870"/>
            </a:avLst>
          </a:prstGeom>
          <a:solidFill>
            <a:srgbClr val="FFFFFF">
              <a:alpha val="10000"/>
            </a:srgbClr>
          </a:solidFill>
          <a:ln/>
        </p:spPr>
      </p:sp>
      <p:sp>
        <p:nvSpPr>
          <p:cNvPr id="26" name="Shape 20"/>
          <p:cNvSpPr/>
          <p:nvPr/>
        </p:nvSpPr>
        <p:spPr>
          <a:xfrm>
            <a:off x="868680" y="5422392"/>
            <a:ext cx="548640" cy="548640"/>
          </a:xfrm>
          <a:prstGeom prst="ellipse">
            <a:avLst/>
          </a:prstGeom>
          <a:solidFill>
            <a:srgbClr val="3AA935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4984" y="5568696"/>
            <a:ext cx="256032" cy="25603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1645920" y="5276088"/>
            <a:ext cx="96012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Variable, Function va Array kabi so'zlarni ishlatib ko'ring.</a:t>
            </a:r>
            <a:endParaRPr lang="en-US" sz="1600" dirty="0"/>
          </a:p>
        </p:txBody>
      </p:sp>
      <p:sp>
        <p:nvSpPr>
          <p:cNvPr id="29" name="Text 22"/>
          <p:cNvSpPr/>
          <p:nvPr/>
        </p:nvSpPr>
        <p:spPr>
          <a:xfrm>
            <a:off x="640080" y="61722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AEB7D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Rahmat! Mashq qilishni unutmang.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JavaScript Vocabulary</dc:title>
  <dc:subject>PptxGenJS Presentation</dc:subject>
  <dc:creator>IT Shaharcha</dc:creator>
  <cp:lastModifiedBy>IT Shaharcha</cp:lastModifiedBy>
  <cp:revision>1</cp:revision>
  <dcterms:created xsi:type="dcterms:W3CDTF">2026-06-17T02:15:30Z</dcterms:created>
  <dcterms:modified xsi:type="dcterms:W3CDTF">2026-06-17T02:15:30Z</dcterms:modified>
</cp:coreProperties>
</file>