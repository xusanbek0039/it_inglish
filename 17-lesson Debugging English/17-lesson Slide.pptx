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jp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jp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jp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jpg"/><Relationship Id="rId2" Type="http://schemas.openxmlformats.org/officeDocument/2006/relationships/image" Target="../media/image-8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jp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image" Target="../media/image-9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41F5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326880" y="-1097280"/>
            <a:ext cx="4114800" cy="4114800"/>
          </a:xfrm>
          <a:prstGeom prst="ellipse">
            <a:avLst/>
          </a:prstGeom>
          <a:solidFill>
            <a:srgbClr val="E6007E">
              <a:alpha val="2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1371600" y="4572000"/>
            <a:ext cx="3840480" cy="3840480"/>
          </a:xfrm>
          <a:prstGeom prst="ellipse">
            <a:avLst/>
          </a:prstGeom>
          <a:solidFill>
            <a:srgbClr val="00A0E0">
              <a:alpha val="2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10607040" y="4846320"/>
            <a:ext cx="1828800" cy="1828800"/>
          </a:xfrm>
          <a:prstGeom prst="ellipse">
            <a:avLst/>
          </a:prstGeom>
          <a:solidFill>
            <a:srgbClr val="6A2C91">
              <a:alpha val="18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548640" y="502920"/>
            <a:ext cx="1051560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8895B3">
                <a:alpha val="22000"/>
              </a:srgbClr>
            </a:outerShdw>
          </a:effectLst>
        </p:spPr>
      </p:sp>
      <p:pic>
        <p:nvPicPr>
          <p:cNvPr id="6" name="Image 0" descr="/sessions/epic-sharp-feynman/mnt/it_inglish/logo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21792" y="576072"/>
            <a:ext cx="905256" cy="905256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737360" y="548640"/>
            <a:ext cx="6400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«IT Shaharcha»</a:t>
            </a:r>
            <a:endParaRPr lang="en-US" sz="2000" dirty="0"/>
          </a:p>
        </p:txBody>
      </p:sp>
      <p:sp>
        <p:nvSpPr>
          <p:cNvPr id="8" name="Text 5"/>
          <p:cNvSpPr/>
          <p:nvPr/>
        </p:nvSpPr>
        <p:spPr>
          <a:xfrm>
            <a:off x="1737360" y="96012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200" kern="0" dirty="0">
                <a:solidFill>
                  <a:srgbClr val="AEB7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YOSHLAR AXBOROT TEXNOLOGIYALARI MARKAZI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594360" y="2103120"/>
            <a:ext cx="2377440" cy="502920"/>
          </a:xfrm>
          <a:prstGeom prst="roundRect">
            <a:avLst>
              <a:gd name="adj" fmla="val 49091"/>
            </a:avLst>
          </a:prstGeom>
          <a:solidFill>
            <a:srgbClr val="E6007E"/>
          </a:solidFill>
          <a:ln/>
        </p:spPr>
      </p:sp>
      <p:sp>
        <p:nvSpPr>
          <p:cNvPr id="10" name="Text 7"/>
          <p:cNvSpPr/>
          <p:nvPr/>
        </p:nvSpPr>
        <p:spPr>
          <a:xfrm>
            <a:off x="594360" y="2103120"/>
            <a:ext cx="2377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spc="2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17 — DARS</a:t>
            </a:r>
            <a:endParaRPr lang="en-US" sz="1500" dirty="0"/>
          </a:p>
        </p:txBody>
      </p:sp>
      <p:sp>
        <p:nvSpPr>
          <p:cNvPr id="11" name="Text 8"/>
          <p:cNvSpPr/>
          <p:nvPr/>
        </p:nvSpPr>
        <p:spPr>
          <a:xfrm>
            <a:off x="548640" y="2697480"/>
            <a:ext cx="110642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Debugging English</a:t>
            </a:r>
            <a:endParaRPr lang="en-US" sz="5800" dirty="0"/>
          </a:p>
        </p:txBody>
      </p:sp>
      <p:sp>
        <p:nvSpPr>
          <p:cNvPr id="12" name="Text 9"/>
          <p:cNvSpPr/>
          <p:nvPr/>
        </p:nvSpPr>
        <p:spPr>
          <a:xfrm>
            <a:off x="594360" y="4526280"/>
            <a:ext cx="8229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500" dirty="0">
                <a:solidFill>
                  <a:srgbClr val="D7DC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Debugging jarayonidagi terminlar: bug, breakpoint, trace, log va muammoni tushuntirish.</a:t>
            </a:r>
            <a:endParaRPr lang="en-US" sz="1500" dirty="0"/>
          </a:p>
        </p:txBody>
      </p:sp>
      <p:sp>
        <p:nvSpPr>
          <p:cNvPr id="13" name="Shape 10"/>
          <p:cNvSpPr/>
          <p:nvPr/>
        </p:nvSpPr>
        <p:spPr>
          <a:xfrm>
            <a:off x="594360" y="5943600"/>
            <a:ext cx="164592" cy="164592"/>
          </a:xfrm>
          <a:prstGeom prst="ellipse">
            <a:avLst/>
          </a:prstGeom>
          <a:solidFill>
            <a:srgbClr val="E6007E"/>
          </a:solidFill>
          <a:ln/>
        </p:spPr>
      </p:sp>
      <p:sp>
        <p:nvSpPr>
          <p:cNvPr id="14" name="Shape 11"/>
          <p:cNvSpPr/>
          <p:nvPr/>
        </p:nvSpPr>
        <p:spPr>
          <a:xfrm>
            <a:off x="978408" y="5943600"/>
            <a:ext cx="164592" cy="164592"/>
          </a:xfrm>
          <a:prstGeom prst="ellipse">
            <a:avLst/>
          </a:prstGeom>
          <a:solidFill>
            <a:srgbClr val="6A2C91"/>
          </a:solidFill>
          <a:ln/>
        </p:spPr>
      </p:sp>
      <p:sp>
        <p:nvSpPr>
          <p:cNvPr id="15" name="Shape 12"/>
          <p:cNvSpPr/>
          <p:nvPr/>
        </p:nvSpPr>
        <p:spPr>
          <a:xfrm>
            <a:off x="1362456" y="5943600"/>
            <a:ext cx="164592" cy="164592"/>
          </a:xfrm>
          <a:prstGeom prst="ellipse">
            <a:avLst/>
          </a:prstGeom>
          <a:solidFill>
            <a:srgbClr val="E8541E"/>
          </a:solidFill>
          <a:ln/>
        </p:spPr>
      </p:sp>
      <p:sp>
        <p:nvSpPr>
          <p:cNvPr id="16" name="Shape 13"/>
          <p:cNvSpPr/>
          <p:nvPr/>
        </p:nvSpPr>
        <p:spPr>
          <a:xfrm>
            <a:off x="1746504" y="5943600"/>
            <a:ext cx="164592" cy="164592"/>
          </a:xfrm>
          <a:prstGeom prst="ellipse">
            <a:avLst/>
          </a:prstGeom>
          <a:solidFill>
            <a:srgbClr val="3AA935"/>
          </a:solidFill>
          <a:ln/>
        </p:spPr>
      </p:sp>
      <p:sp>
        <p:nvSpPr>
          <p:cNvPr id="17" name="Shape 14"/>
          <p:cNvSpPr/>
          <p:nvPr/>
        </p:nvSpPr>
        <p:spPr>
          <a:xfrm>
            <a:off x="2130552" y="5943600"/>
            <a:ext cx="164592" cy="164592"/>
          </a:xfrm>
          <a:prstGeom prst="ellipse">
            <a:avLst/>
          </a:prstGeom>
          <a:solidFill>
            <a:srgbClr val="00A0E0"/>
          </a:solidFill>
          <a:ln/>
        </p:spPr>
      </p:sp>
      <p:sp>
        <p:nvSpPr>
          <p:cNvPr id="18" name="Shape 15"/>
          <p:cNvSpPr/>
          <p:nvPr/>
        </p:nvSpPr>
        <p:spPr>
          <a:xfrm>
            <a:off x="2514600" y="5943600"/>
            <a:ext cx="164592" cy="164592"/>
          </a:xfrm>
          <a:prstGeom prst="ellipse">
            <a:avLst/>
          </a:prstGeom>
          <a:solidFill>
            <a:srgbClr val="F4AD00"/>
          </a:solidFill>
          <a:ln/>
        </p:spPr>
      </p:sp>
      <p:sp>
        <p:nvSpPr>
          <p:cNvPr id="19" name="Text 16"/>
          <p:cNvSpPr/>
          <p:nvPr/>
        </p:nvSpPr>
        <p:spPr>
          <a:xfrm>
            <a:off x="7955280" y="589788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i="1" dirty="0">
                <a:solidFill>
                  <a:srgbClr val="AEB7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daqiqa  ·  Boshlang'ich daraja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566928" cy="566928"/>
          </a:xfrm>
          <a:prstGeom prst="roundRect">
            <a:avLst>
              <a:gd name="adj" fmla="val 16129"/>
            </a:avLst>
          </a:prstGeom>
          <a:solidFill>
            <a:srgbClr val="E6007E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57200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1234440" y="457200"/>
            <a:ext cx="8686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B2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Dars maqsadi</a:t>
            </a:r>
            <a:endParaRPr lang="en-US" sz="2400" dirty="0"/>
          </a:p>
        </p:txBody>
      </p:sp>
      <p:pic>
        <p:nvPicPr>
          <p:cNvPr id="5" name="Image 0" descr="/sessions/epic-sharp-feynman/mnt/it_inglish/logo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48695" y="457200"/>
            <a:ext cx="566928" cy="566928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48640" y="123444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Ushbu darsdan so'ng siz quyidagilarni o'rganasiz:</a:t>
            </a:r>
            <a:endParaRPr lang="en-US" sz="1500" dirty="0"/>
          </a:p>
        </p:txBody>
      </p:sp>
      <p:sp>
        <p:nvSpPr>
          <p:cNvPr id="7" name="Shape 4"/>
          <p:cNvSpPr/>
          <p:nvPr/>
        </p:nvSpPr>
        <p:spPr>
          <a:xfrm>
            <a:off x="548640" y="1828800"/>
            <a:ext cx="2606040" cy="3108960"/>
          </a:xfrm>
          <a:prstGeom prst="roundRect">
            <a:avLst>
              <a:gd name="adj" fmla="val 4211"/>
            </a:avLst>
          </a:prstGeom>
          <a:solidFill>
            <a:srgbClr val="F4F6FB"/>
          </a:solidFill>
          <a:ln/>
          <a:effectLst>
            <a:outerShdw sx="100000" sy="100000" kx="0" ky="0" algn="bl" rotWithShape="0" blurRad="114300" dist="38100" dir="5400000">
              <a:srgbClr val="8895B3">
                <a:alpha val="22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1394460" y="2194560"/>
            <a:ext cx="914400" cy="914400"/>
          </a:xfrm>
          <a:prstGeom prst="ellipse">
            <a:avLst/>
          </a:prstGeom>
          <a:solidFill>
            <a:srgbClr val="E6007E"/>
          </a:solidFill>
          <a:ln/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04772" y="2404872"/>
            <a:ext cx="493776" cy="493776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685800" y="3246120"/>
            <a:ext cx="2331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B2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Mavzu mohiyati</a:t>
            </a:r>
            <a:endParaRPr lang="en-US" sz="1800" dirty="0"/>
          </a:p>
        </p:txBody>
      </p:sp>
      <p:sp>
        <p:nvSpPr>
          <p:cNvPr id="11" name="Text 7"/>
          <p:cNvSpPr/>
          <p:nvPr/>
        </p:nvSpPr>
        <p:spPr>
          <a:xfrm>
            <a:off x="749808" y="3794760"/>
            <a:ext cx="220370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4A4E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 mavzu nima ekanini va nega muhimligini tushunasiz.</a:t>
            </a:r>
            <a:endParaRPr lang="en-US" sz="1250" dirty="0"/>
          </a:p>
        </p:txBody>
      </p:sp>
      <p:sp>
        <p:nvSpPr>
          <p:cNvPr id="12" name="Shape 8"/>
          <p:cNvSpPr/>
          <p:nvPr/>
        </p:nvSpPr>
        <p:spPr>
          <a:xfrm>
            <a:off x="3474720" y="1828800"/>
            <a:ext cx="2606040" cy="3108960"/>
          </a:xfrm>
          <a:prstGeom prst="roundRect">
            <a:avLst>
              <a:gd name="adj" fmla="val 4211"/>
            </a:avLst>
          </a:prstGeom>
          <a:solidFill>
            <a:srgbClr val="F4F6FB"/>
          </a:solidFill>
          <a:ln/>
          <a:effectLst>
            <a:outerShdw sx="100000" sy="100000" kx="0" ky="0" algn="bl" rotWithShape="0" blurRad="114300" dist="38100" dir="5400000">
              <a:srgbClr val="8895B3">
                <a:alpha val="22000"/>
              </a:srgbClr>
            </a:outerShdw>
          </a:effectLst>
        </p:spPr>
      </p:sp>
      <p:sp>
        <p:nvSpPr>
          <p:cNvPr id="13" name="Shape 9"/>
          <p:cNvSpPr/>
          <p:nvPr/>
        </p:nvSpPr>
        <p:spPr>
          <a:xfrm>
            <a:off x="4320540" y="2194560"/>
            <a:ext cx="914400" cy="914400"/>
          </a:xfrm>
          <a:prstGeom prst="ellipse">
            <a:avLst/>
          </a:prstGeom>
          <a:solidFill>
            <a:srgbClr val="00A0E0"/>
          </a:solidFill>
          <a:ln/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30852" y="2404872"/>
            <a:ext cx="493776" cy="493776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3611880" y="3246120"/>
            <a:ext cx="2331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B2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Yangi terminlar</a:t>
            </a:r>
            <a:endParaRPr lang="en-US" sz="1800" dirty="0"/>
          </a:p>
        </p:txBody>
      </p:sp>
      <p:sp>
        <p:nvSpPr>
          <p:cNvPr id="16" name="Text 11"/>
          <p:cNvSpPr/>
          <p:nvPr/>
        </p:nvSpPr>
        <p:spPr>
          <a:xfrm>
            <a:off x="3675888" y="3794760"/>
            <a:ext cx="220370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4A4E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ta muhim inglizcha so'zni o'rganasiz.</a:t>
            </a:r>
            <a:endParaRPr lang="en-US" sz="1250" dirty="0"/>
          </a:p>
        </p:txBody>
      </p:sp>
      <p:sp>
        <p:nvSpPr>
          <p:cNvPr id="17" name="Shape 12"/>
          <p:cNvSpPr/>
          <p:nvPr/>
        </p:nvSpPr>
        <p:spPr>
          <a:xfrm>
            <a:off x="6400800" y="1828800"/>
            <a:ext cx="2606040" cy="3108960"/>
          </a:xfrm>
          <a:prstGeom prst="roundRect">
            <a:avLst>
              <a:gd name="adj" fmla="val 4211"/>
            </a:avLst>
          </a:prstGeom>
          <a:solidFill>
            <a:srgbClr val="F4F6FB"/>
          </a:solidFill>
          <a:ln/>
          <a:effectLst>
            <a:outerShdw sx="100000" sy="100000" kx="0" ky="0" algn="bl" rotWithShape="0" blurRad="114300" dist="38100" dir="5400000">
              <a:srgbClr val="8895B3">
                <a:alpha val="22000"/>
              </a:srgbClr>
            </a:outerShdw>
          </a:effectLst>
        </p:spPr>
      </p:sp>
      <p:sp>
        <p:nvSpPr>
          <p:cNvPr id="18" name="Shape 13"/>
          <p:cNvSpPr/>
          <p:nvPr/>
        </p:nvSpPr>
        <p:spPr>
          <a:xfrm>
            <a:off x="7246620" y="2194560"/>
            <a:ext cx="914400" cy="914400"/>
          </a:xfrm>
          <a:prstGeom prst="ellipse">
            <a:avLst/>
          </a:prstGeom>
          <a:solidFill>
            <a:srgbClr val="3AA935"/>
          </a:solidFill>
          <a:ln/>
        </p:spPr>
      </p:sp>
      <p:pic>
        <p:nvPicPr>
          <p:cNvPr id="19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56932" y="2404872"/>
            <a:ext cx="493776" cy="493776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6537960" y="3246120"/>
            <a:ext cx="2331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B2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Iboralar</a:t>
            </a:r>
            <a:endParaRPr lang="en-US" sz="1800" dirty="0"/>
          </a:p>
        </p:txBody>
      </p:sp>
      <p:sp>
        <p:nvSpPr>
          <p:cNvPr id="21" name="Text 15"/>
          <p:cNvSpPr/>
          <p:nvPr/>
        </p:nvSpPr>
        <p:spPr>
          <a:xfrm>
            <a:off x="6601968" y="3794760"/>
            <a:ext cx="220370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4A4E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Terminlar ishlatiladigan tayyor gaplarni ko'rasiz.</a:t>
            </a:r>
            <a:endParaRPr lang="en-US" sz="1250" dirty="0"/>
          </a:p>
        </p:txBody>
      </p:sp>
      <p:sp>
        <p:nvSpPr>
          <p:cNvPr id="22" name="Shape 16"/>
          <p:cNvSpPr/>
          <p:nvPr/>
        </p:nvSpPr>
        <p:spPr>
          <a:xfrm>
            <a:off x="9326880" y="1828800"/>
            <a:ext cx="2606040" cy="3108960"/>
          </a:xfrm>
          <a:prstGeom prst="roundRect">
            <a:avLst>
              <a:gd name="adj" fmla="val 4211"/>
            </a:avLst>
          </a:prstGeom>
          <a:solidFill>
            <a:srgbClr val="F4F6FB"/>
          </a:solidFill>
          <a:ln/>
          <a:effectLst>
            <a:outerShdw sx="100000" sy="100000" kx="0" ky="0" algn="bl" rotWithShape="0" blurRad="114300" dist="38100" dir="5400000">
              <a:srgbClr val="8895B3">
                <a:alpha val="22000"/>
              </a:srgbClr>
            </a:outerShdw>
          </a:effectLst>
        </p:spPr>
      </p:sp>
      <p:sp>
        <p:nvSpPr>
          <p:cNvPr id="23" name="Shape 17"/>
          <p:cNvSpPr/>
          <p:nvPr/>
        </p:nvSpPr>
        <p:spPr>
          <a:xfrm>
            <a:off x="10172700" y="2194560"/>
            <a:ext cx="914400" cy="914400"/>
          </a:xfrm>
          <a:prstGeom prst="ellipse">
            <a:avLst/>
          </a:prstGeom>
          <a:solidFill>
            <a:srgbClr val="E8541E"/>
          </a:solidFill>
          <a:ln/>
        </p:spPr>
      </p:sp>
      <p:pic>
        <p:nvPicPr>
          <p:cNvPr id="24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383012" y="2404872"/>
            <a:ext cx="493776" cy="493776"/>
          </a:xfrm>
          <a:prstGeom prst="rect">
            <a:avLst/>
          </a:prstGeom>
        </p:spPr>
      </p:pic>
      <p:sp>
        <p:nvSpPr>
          <p:cNvPr id="25" name="Text 18"/>
          <p:cNvSpPr/>
          <p:nvPr/>
        </p:nvSpPr>
        <p:spPr>
          <a:xfrm>
            <a:off x="9464040" y="3246120"/>
            <a:ext cx="2331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B2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Amaliyot</a:t>
            </a:r>
            <a:endParaRPr lang="en-US" sz="1800" dirty="0"/>
          </a:p>
        </p:txBody>
      </p:sp>
      <p:sp>
        <p:nvSpPr>
          <p:cNvPr id="26" name="Text 19"/>
          <p:cNvSpPr/>
          <p:nvPr/>
        </p:nvSpPr>
        <p:spPr>
          <a:xfrm>
            <a:off x="9528048" y="3794760"/>
            <a:ext cx="220370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4A4E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Suhbat va mashqlar bilan mustahkamlaysiz.</a:t>
            </a:r>
            <a:endParaRPr lang="en-US" sz="1250" dirty="0"/>
          </a:p>
        </p:txBody>
      </p:sp>
      <p:sp>
        <p:nvSpPr>
          <p:cNvPr id="27" name="Text 20"/>
          <p:cNvSpPr/>
          <p:nvPr/>
        </p:nvSpPr>
        <p:spPr>
          <a:xfrm>
            <a:off x="548640" y="64008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B2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«IT Shaharcha»</a:t>
            </a:r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IT English · 17-dars</a:t>
            </a:r>
            <a:endParaRPr lang="en-US" sz="900" dirty="0"/>
          </a:p>
        </p:txBody>
      </p:sp>
      <p:sp>
        <p:nvSpPr>
          <p:cNvPr id="28" name="Text 21"/>
          <p:cNvSpPr/>
          <p:nvPr/>
        </p:nvSpPr>
        <p:spPr>
          <a:xfrm>
            <a:off x="10728655" y="640080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9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566928" cy="566928"/>
          </a:xfrm>
          <a:prstGeom prst="roundRect">
            <a:avLst>
              <a:gd name="adj" fmla="val 16129"/>
            </a:avLst>
          </a:prstGeom>
          <a:solidFill>
            <a:srgbClr val="00A0E0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57200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1234440" y="457200"/>
            <a:ext cx="8686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B2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Mavzu haqida</a:t>
            </a:r>
            <a:endParaRPr lang="en-US" sz="2400" dirty="0"/>
          </a:p>
        </p:txBody>
      </p:sp>
      <p:pic>
        <p:nvPicPr>
          <p:cNvPr id="5" name="Image 0" descr="/sessions/epic-sharp-feynman/mnt/it_inglish/logo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48695" y="457200"/>
            <a:ext cx="566928" cy="566928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48640" y="1645920"/>
            <a:ext cx="6126480" cy="402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2000"/>
              </a:lnSpc>
              <a:buNone/>
            </a:pPr>
            <a:r>
              <a:rPr lang="en-US" sz="1650" dirty="0">
                <a:solidFill>
                  <a:srgbClr val="1F22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Debugging — koddagi xatolarni topish va tuzatish jarayoni. breakpoint qo'yamiz, log chiqaramiz, qadam-baqadam tekshiramiz. Bu so'zlarni bilish muammoni hamkasblarga tushuntirishga yordam beradi.</a:t>
            </a:r>
            <a:endParaRPr lang="en-US" sz="1650" dirty="0"/>
          </a:p>
        </p:txBody>
      </p:sp>
      <p:sp>
        <p:nvSpPr>
          <p:cNvPr id="7" name="Shape 4"/>
          <p:cNvSpPr/>
          <p:nvPr/>
        </p:nvSpPr>
        <p:spPr>
          <a:xfrm>
            <a:off x="6903720" y="1645920"/>
            <a:ext cx="4754880" cy="4114800"/>
          </a:xfrm>
          <a:prstGeom prst="roundRect">
            <a:avLst>
              <a:gd name="adj" fmla="val 3111"/>
            </a:avLst>
          </a:prstGeom>
          <a:solidFill>
            <a:srgbClr val="1B2A6B"/>
          </a:solidFill>
          <a:ln/>
          <a:effectLst>
            <a:outerShdw sx="100000" sy="100000" kx="0" ky="0" algn="bl" rotWithShape="0" blurRad="114300" dist="38100" dir="5400000">
              <a:srgbClr val="8895B3">
                <a:alpha val="22000"/>
              </a:srgbClr>
            </a:outerShdw>
          </a:effectLst>
        </p:spPr>
      </p:sp>
      <p:sp>
        <p:nvSpPr>
          <p:cNvPr id="8" name="Text 5"/>
          <p:cNvSpPr/>
          <p:nvPr/>
        </p:nvSpPr>
        <p:spPr>
          <a:xfrm>
            <a:off x="7178040" y="1965960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200" kern="0" dirty="0">
                <a:solidFill>
                  <a:srgbClr val="9AA6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BUGUNGI KALIT SO'Z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7178040" y="2331720"/>
            <a:ext cx="4206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7FD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Bug</a:t>
            </a:r>
            <a:endParaRPr lang="en-US" sz="3800" dirty="0"/>
          </a:p>
        </p:txBody>
      </p:sp>
      <p:sp>
        <p:nvSpPr>
          <p:cNvPr id="10" name="Text 7"/>
          <p:cNvSpPr/>
          <p:nvPr/>
        </p:nvSpPr>
        <p:spPr>
          <a:xfrm>
            <a:off x="7178040" y="3200400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C9D2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[bag]</a:t>
            </a:r>
            <a:endParaRPr lang="en-US" sz="1500" dirty="0"/>
          </a:p>
        </p:txBody>
      </p:sp>
      <p:sp>
        <p:nvSpPr>
          <p:cNvPr id="11" name="Shape 8"/>
          <p:cNvSpPr/>
          <p:nvPr/>
        </p:nvSpPr>
        <p:spPr>
          <a:xfrm>
            <a:off x="7178040" y="3749040"/>
            <a:ext cx="4206240" cy="1737360"/>
          </a:xfrm>
          <a:prstGeom prst="roundRect">
            <a:avLst>
              <a:gd name="adj" fmla="val 5263"/>
            </a:avLst>
          </a:prstGeom>
          <a:solidFill>
            <a:srgbClr val="263680"/>
          </a:solidFill>
          <a:ln/>
        </p:spPr>
      </p:sp>
      <p:sp>
        <p:nvSpPr>
          <p:cNvPr id="12" name="Text 9"/>
          <p:cNvSpPr/>
          <p:nvPr/>
        </p:nvSpPr>
        <p:spPr>
          <a:xfrm>
            <a:off x="7406640" y="3931920"/>
            <a:ext cx="37490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Xato / kamchilik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548640" y="64008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B2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«IT Shaharcha»</a:t>
            </a:r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IT English · 17-dars</a:t>
            </a:r>
            <a:endParaRPr lang="en-US" sz="900" dirty="0"/>
          </a:p>
        </p:txBody>
      </p:sp>
      <p:sp>
        <p:nvSpPr>
          <p:cNvPr id="14" name="Text 11"/>
          <p:cNvSpPr/>
          <p:nvPr/>
        </p:nvSpPr>
        <p:spPr>
          <a:xfrm>
            <a:off x="10728655" y="640080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9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566928" cy="566928"/>
          </a:xfrm>
          <a:prstGeom prst="roundRect">
            <a:avLst>
              <a:gd name="adj" fmla="val 16129"/>
            </a:avLst>
          </a:prstGeom>
          <a:solidFill>
            <a:srgbClr val="3AA935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57200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1234440" y="457200"/>
            <a:ext cx="8686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B2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Nega bu mavzu muhim?</a:t>
            </a:r>
            <a:endParaRPr lang="en-US" sz="2400" dirty="0"/>
          </a:p>
        </p:txBody>
      </p:sp>
      <p:pic>
        <p:nvPicPr>
          <p:cNvPr id="5" name="Image 0" descr="/sessions/epic-sharp-feynman/mnt/it_inglish/logo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48695" y="457200"/>
            <a:ext cx="566928" cy="566928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548640" y="1554480"/>
            <a:ext cx="5440680" cy="1874520"/>
          </a:xfrm>
          <a:prstGeom prst="roundRect">
            <a:avLst>
              <a:gd name="adj" fmla="val 487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8895B3">
                <a:alpha val="22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868680" y="2057400"/>
            <a:ext cx="868680" cy="868680"/>
          </a:xfrm>
          <a:prstGeom prst="ellipse">
            <a:avLst/>
          </a:prstGeom>
          <a:solidFill>
            <a:srgbClr val="6A2C91"/>
          </a:solidFill>
          <a:ln/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8992" y="2267712"/>
            <a:ext cx="448056" cy="448056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965960" y="1874520"/>
            <a:ext cx="3794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B2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Real ishda uchraydi</a:t>
            </a:r>
            <a:endParaRPr lang="en-US" sz="1900" dirty="0"/>
          </a:p>
        </p:txBody>
      </p:sp>
      <p:sp>
        <p:nvSpPr>
          <p:cNvPr id="10" name="Text 6"/>
          <p:cNvSpPr/>
          <p:nvPr/>
        </p:nvSpPr>
        <p:spPr>
          <a:xfrm>
            <a:off x="1965960" y="2423160"/>
            <a:ext cx="37947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4A4E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 terminlar kundalik dasturchilik ishida doimo qo'llaniladi.</a:t>
            </a:r>
            <a:endParaRPr lang="en-US" sz="1350" dirty="0"/>
          </a:p>
        </p:txBody>
      </p:sp>
      <p:sp>
        <p:nvSpPr>
          <p:cNvPr id="11" name="Shape 7"/>
          <p:cNvSpPr/>
          <p:nvPr/>
        </p:nvSpPr>
        <p:spPr>
          <a:xfrm>
            <a:off x="6537960" y="1554480"/>
            <a:ext cx="5440680" cy="1874520"/>
          </a:xfrm>
          <a:prstGeom prst="roundRect">
            <a:avLst>
              <a:gd name="adj" fmla="val 487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8895B3">
                <a:alpha val="22000"/>
              </a:srgbClr>
            </a:outerShdw>
          </a:effectLst>
        </p:spPr>
      </p:sp>
      <p:sp>
        <p:nvSpPr>
          <p:cNvPr id="12" name="Shape 8"/>
          <p:cNvSpPr/>
          <p:nvPr/>
        </p:nvSpPr>
        <p:spPr>
          <a:xfrm>
            <a:off x="6858000" y="2057400"/>
            <a:ext cx="868680" cy="868680"/>
          </a:xfrm>
          <a:prstGeom prst="ellipse">
            <a:avLst/>
          </a:prstGeom>
          <a:solidFill>
            <a:srgbClr val="00A0E0"/>
          </a:solidFill>
          <a:ln/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68312" y="2267712"/>
            <a:ext cx="448056" cy="448056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7955280" y="1874520"/>
            <a:ext cx="3794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B2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Hujjat va docs</a:t>
            </a:r>
            <a:endParaRPr lang="en-US" sz="1900" dirty="0"/>
          </a:p>
        </p:txBody>
      </p:sp>
      <p:sp>
        <p:nvSpPr>
          <p:cNvPr id="15" name="Text 10"/>
          <p:cNvSpPr/>
          <p:nvPr/>
        </p:nvSpPr>
        <p:spPr>
          <a:xfrm>
            <a:off x="7955280" y="2423160"/>
            <a:ext cx="37947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4A4E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Inglizcha qo'llanmalarni mustaqil o'qiy olasiz.</a:t>
            </a:r>
            <a:endParaRPr lang="en-US" sz="1350" dirty="0"/>
          </a:p>
        </p:txBody>
      </p:sp>
      <p:sp>
        <p:nvSpPr>
          <p:cNvPr id="16" name="Shape 11"/>
          <p:cNvSpPr/>
          <p:nvPr/>
        </p:nvSpPr>
        <p:spPr>
          <a:xfrm>
            <a:off x="548640" y="3794760"/>
            <a:ext cx="5440680" cy="1874520"/>
          </a:xfrm>
          <a:prstGeom prst="roundRect">
            <a:avLst>
              <a:gd name="adj" fmla="val 487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8895B3">
                <a:alpha val="22000"/>
              </a:srgbClr>
            </a:outerShdw>
          </a:effectLst>
        </p:spPr>
      </p:sp>
      <p:sp>
        <p:nvSpPr>
          <p:cNvPr id="17" name="Shape 12"/>
          <p:cNvSpPr/>
          <p:nvPr/>
        </p:nvSpPr>
        <p:spPr>
          <a:xfrm>
            <a:off x="868680" y="4297680"/>
            <a:ext cx="868680" cy="868680"/>
          </a:xfrm>
          <a:prstGeom prst="ellipse">
            <a:avLst/>
          </a:prstGeom>
          <a:solidFill>
            <a:srgbClr val="E8541E"/>
          </a:solidFill>
          <a:ln/>
        </p:spPr>
      </p:sp>
      <p:pic>
        <p:nvPicPr>
          <p:cNvPr id="18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78992" y="4507992"/>
            <a:ext cx="448056" cy="448056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1965960" y="4114800"/>
            <a:ext cx="3794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B2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Xatolarni tushunish</a:t>
            </a:r>
            <a:endParaRPr lang="en-US" sz="1900" dirty="0"/>
          </a:p>
        </p:txBody>
      </p:sp>
      <p:sp>
        <p:nvSpPr>
          <p:cNvPr id="20" name="Text 14"/>
          <p:cNvSpPr/>
          <p:nvPr/>
        </p:nvSpPr>
        <p:spPr>
          <a:xfrm>
            <a:off x="1965960" y="4663440"/>
            <a:ext cx="37947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4A4E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Inglizcha xabarlarni tushunib, muammoni tez hal qilasiz.</a:t>
            </a:r>
            <a:endParaRPr lang="en-US" sz="1350" dirty="0"/>
          </a:p>
        </p:txBody>
      </p:sp>
      <p:sp>
        <p:nvSpPr>
          <p:cNvPr id="21" name="Shape 15"/>
          <p:cNvSpPr/>
          <p:nvPr/>
        </p:nvSpPr>
        <p:spPr>
          <a:xfrm>
            <a:off x="6537960" y="3794760"/>
            <a:ext cx="5440680" cy="1874520"/>
          </a:xfrm>
          <a:prstGeom prst="roundRect">
            <a:avLst>
              <a:gd name="adj" fmla="val 487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8895B3">
                <a:alpha val="22000"/>
              </a:srgbClr>
            </a:outerShdw>
          </a:effectLst>
        </p:spPr>
      </p:sp>
      <p:sp>
        <p:nvSpPr>
          <p:cNvPr id="22" name="Shape 16"/>
          <p:cNvSpPr/>
          <p:nvPr/>
        </p:nvSpPr>
        <p:spPr>
          <a:xfrm>
            <a:off x="6858000" y="4297680"/>
            <a:ext cx="868680" cy="868680"/>
          </a:xfrm>
          <a:prstGeom prst="ellipse">
            <a:avLst/>
          </a:prstGeom>
          <a:solidFill>
            <a:srgbClr val="3AA935"/>
          </a:solidFill>
          <a:ln/>
        </p:spPr>
      </p:sp>
      <p:pic>
        <p:nvPicPr>
          <p:cNvPr id="23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068312" y="4507992"/>
            <a:ext cx="448056" cy="448056"/>
          </a:xfrm>
          <a:prstGeom prst="rect">
            <a:avLst/>
          </a:prstGeom>
        </p:spPr>
      </p:pic>
      <p:sp>
        <p:nvSpPr>
          <p:cNvPr id="24" name="Text 17"/>
          <p:cNvSpPr/>
          <p:nvPr/>
        </p:nvSpPr>
        <p:spPr>
          <a:xfrm>
            <a:off x="7955280" y="4114800"/>
            <a:ext cx="3794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B2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Muloqot</a:t>
            </a:r>
            <a:endParaRPr lang="en-US" sz="1900" dirty="0"/>
          </a:p>
        </p:txBody>
      </p:sp>
      <p:sp>
        <p:nvSpPr>
          <p:cNvPr id="25" name="Text 18"/>
          <p:cNvSpPr/>
          <p:nvPr/>
        </p:nvSpPr>
        <p:spPr>
          <a:xfrm>
            <a:off x="7955280" y="4663440"/>
            <a:ext cx="37947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4A4E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Jamoa va mijozlar bilan ingliz tilida erkin gaplashasiz.</a:t>
            </a:r>
            <a:endParaRPr lang="en-US" sz="1350" dirty="0"/>
          </a:p>
        </p:txBody>
      </p:sp>
      <p:sp>
        <p:nvSpPr>
          <p:cNvPr id="26" name="Shape 19"/>
          <p:cNvSpPr/>
          <p:nvPr/>
        </p:nvSpPr>
        <p:spPr>
          <a:xfrm>
            <a:off x="548640" y="5806440"/>
            <a:ext cx="11091672" cy="566928"/>
          </a:xfrm>
          <a:prstGeom prst="roundRect">
            <a:avLst>
              <a:gd name="adj" fmla="val 50000"/>
            </a:avLst>
          </a:prstGeom>
          <a:solidFill>
            <a:srgbClr val="1B2A6B"/>
          </a:solidFill>
          <a:ln/>
        </p:spPr>
      </p:sp>
      <p:sp>
        <p:nvSpPr>
          <p:cNvPr id="27" name="Text 20"/>
          <p:cNvSpPr/>
          <p:nvPr/>
        </p:nvSpPr>
        <p:spPr>
          <a:xfrm>
            <a:off x="868680" y="5806440"/>
            <a:ext cx="10515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4AD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MASLAHAT   </a:t>
            </a:r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Terminlarni gap ichida, real misollar bilan o'rganing — shunda esda yaxshi qoladi.</a:t>
            </a:r>
            <a:endParaRPr lang="en-US" sz="1300" dirty="0"/>
          </a:p>
        </p:txBody>
      </p:sp>
      <p:sp>
        <p:nvSpPr>
          <p:cNvPr id="28" name="Text 21"/>
          <p:cNvSpPr/>
          <p:nvPr/>
        </p:nvSpPr>
        <p:spPr>
          <a:xfrm>
            <a:off x="548640" y="64008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B2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«IT Shaharcha»</a:t>
            </a:r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IT English · 17-dars</a:t>
            </a:r>
            <a:endParaRPr lang="en-US" sz="900" dirty="0"/>
          </a:p>
        </p:txBody>
      </p:sp>
      <p:sp>
        <p:nvSpPr>
          <p:cNvPr id="29" name="Text 22"/>
          <p:cNvSpPr/>
          <p:nvPr/>
        </p:nvSpPr>
        <p:spPr>
          <a:xfrm>
            <a:off x="10728655" y="640080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9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566928" cy="566928"/>
          </a:xfrm>
          <a:prstGeom prst="roundRect">
            <a:avLst>
              <a:gd name="adj" fmla="val 16129"/>
            </a:avLst>
          </a:prstGeom>
          <a:solidFill>
            <a:srgbClr val="E8541E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57200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1234440" y="457200"/>
            <a:ext cx="8686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B2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Asosiy terminlar</a:t>
            </a:r>
            <a:endParaRPr lang="en-US" sz="2400" dirty="0"/>
          </a:p>
        </p:txBody>
      </p:sp>
      <p:pic>
        <p:nvPicPr>
          <p:cNvPr id="5" name="Image 0" descr="/sessions/epic-sharp-feynman/mnt/it_inglish/logo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48695" y="457200"/>
            <a:ext cx="566928" cy="566928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548640" y="1481328"/>
            <a:ext cx="5486400" cy="768096"/>
          </a:xfrm>
          <a:prstGeom prst="roundRect">
            <a:avLst>
              <a:gd name="adj" fmla="val 9524"/>
            </a:avLst>
          </a:prstGeom>
          <a:solidFill>
            <a:srgbClr val="F4F6FB"/>
          </a:solidFill>
          <a:ln/>
        </p:spPr>
      </p:sp>
      <p:sp>
        <p:nvSpPr>
          <p:cNvPr id="7" name="Shape 4"/>
          <p:cNvSpPr/>
          <p:nvPr/>
        </p:nvSpPr>
        <p:spPr>
          <a:xfrm>
            <a:off x="786384" y="1783080"/>
            <a:ext cx="164592" cy="164592"/>
          </a:xfrm>
          <a:prstGeom prst="ellipse">
            <a:avLst/>
          </a:prstGeom>
          <a:solidFill>
            <a:srgbClr val="E6007E"/>
          </a:solidFill>
          <a:ln/>
        </p:spPr>
      </p:sp>
      <p:sp>
        <p:nvSpPr>
          <p:cNvPr id="8" name="Text 5"/>
          <p:cNvSpPr/>
          <p:nvPr/>
        </p:nvSpPr>
        <p:spPr>
          <a:xfrm>
            <a:off x="1097280" y="1481328"/>
            <a:ext cx="196596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Bug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2834640" y="1481328"/>
            <a:ext cx="132588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E600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[bag]</a:t>
            </a:r>
            <a:endParaRPr lang="en-US" sz="1150" dirty="0"/>
          </a:p>
        </p:txBody>
      </p:sp>
      <p:sp>
        <p:nvSpPr>
          <p:cNvPr id="10" name="Text 7"/>
          <p:cNvSpPr/>
          <p:nvPr/>
        </p:nvSpPr>
        <p:spPr>
          <a:xfrm>
            <a:off x="4114800" y="1481328"/>
            <a:ext cx="182880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A4E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Xato / kamchilik</a:t>
            </a:r>
            <a:endParaRPr lang="en-US" sz="1150" dirty="0"/>
          </a:p>
        </p:txBody>
      </p:sp>
      <p:sp>
        <p:nvSpPr>
          <p:cNvPr id="11" name="Shape 8"/>
          <p:cNvSpPr/>
          <p:nvPr/>
        </p:nvSpPr>
        <p:spPr>
          <a:xfrm>
            <a:off x="548640" y="2340864"/>
            <a:ext cx="5486400" cy="768096"/>
          </a:xfrm>
          <a:prstGeom prst="roundRect">
            <a:avLst>
              <a:gd name="adj" fmla="val 9524"/>
            </a:avLst>
          </a:prstGeom>
          <a:solidFill>
            <a:srgbClr val="F4F6FB"/>
          </a:solidFill>
          <a:ln/>
        </p:spPr>
      </p:sp>
      <p:sp>
        <p:nvSpPr>
          <p:cNvPr id="12" name="Shape 9"/>
          <p:cNvSpPr/>
          <p:nvPr/>
        </p:nvSpPr>
        <p:spPr>
          <a:xfrm>
            <a:off x="786384" y="2642616"/>
            <a:ext cx="164592" cy="164592"/>
          </a:xfrm>
          <a:prstGeom prst="ellipse">
            <a:avLst/>
          </a:prstGeom>
          <a:solidFill>
            <a:srgbClr val="00A0E0"/>
          </a:solidFill>
          <a:ln/>
        </p:spPr>
      </p:sp>
      <p:sp>
        <p:nvSpPr>
          <p:cNvPr id="13" name="Text 10"/>
          <p:cNvSpPr/>
          <p:nvPr/>
        </p:nvSpPr>
        <p:spPr>
          <a:xfrm>
            <a:off x="1097280" y="2340864"/>
            <a:ext cx="196596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Debug</a:t>
            </a:r>
            <a:endParaRPr lang="en-US" sz="1600" dirty="0"/>
          </a:p>
        </p:txBody>
      </p:sp>
      <p:sp>
        <p:nvSpPr>
          <p:cNvPr id="14" name="Text 11"/>
          <p:cNvSpPr/>
          <p:nvPr/>
        </p:nvSpPr>
        <p:spPr>
          <a:xfrm>
            <a:off x="2834640" y="2340864"/>
            <a:ext cx="132588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E600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[dibag]</a:t>
            </a:r>
            <a:endParaRPr lang="en-US" sz="1150" dirty="0"/>
          </a:p>
        </p:txBody>
      </p:sp>
      <p:sp>
        <p:nvSpPr>
          <p:cNvPr id="15" name="Text 12"/>
          <p:cNvSpPr/>
          <p:nvPr/>
        </p:nvSpPr>
        <p:spPr>
          <a:xfrm>
            <a:off x="4114800" y="2340864"/>
            <a:ext cx="182880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A4E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Xatoni topib tuzatish</a:t>
            </a:r>
            <a:endParaRPr lang="en-US" sz="1150" dirty="0"/>
          </a:p>
        </p:txBody>
      </p:sp>
      <p:sp>
        <p:nvSpPr>
          <p:cNvPr id="16" name="Shape 13"/>
          <p:cNvSpPr/>
          <p:nvPr/>
        </p:nvSpPr>
        <p:spPr>
          <a:xfrm>
            <a:off x="548640" y="3200400"/>
            <a:ext cx="5486400" cy="768096"/>
          </a:xfrm>
          <a:prstGeom prst="roundRect">
            <a:avLst>
              <a:gd name="adj" fmla="val 9524"/>
            </a:avLst>
          </a:prstGeom>
          <a:solidFill>
            <a:srgbClr val="F4F6FB"/>
          </a:solidFill>
          <a:ln/>
        </p:spPr>
      </p:sp>
      <p:sp>
        <p:nvSpPr>
          <p:cNvPr id="17" name="Shape 14"/>
          <p:cNvSpPr/>
          <p:nvPr/>
        </p:nvSpPr>
        <p:spPr>
          <a:xfrm>
            <a:off x="786384" y="3502152"/>
            <a:ext cx="164592" cy="164592"/>
          </a:xfrm>
          <a:prstGeom prst="ellipse">
            <a:avLst/>
          </a:prstGeom>
          <a:solidFill>
            <a:srgbClr val="3AA935"/>
          </a:solidFill>
          <a:ln/>
        </p:spPr>
      </p:sp>
      <p:sp>
        <p:nvSpPr>
          <p:cNvPr id="18" name="Text 15"/>
          <p:cNvSpPr/>
          <p:nvPr/>
        </p:nvSpPr>
        <p:spPr>
          <a:xfrm>
            <a:off x="1097280" y="3200400"/>
            <a:ext cx="196596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Breakpoint</a:t>
            </a:r>
            <a:endParaRPr lang="en-US" sz="1600" dirty="0"/>
          </a:p>
        </p:txBody>
      </p:sp>
      <p:sp>
        <p:nvSpPr>
          <p:cNvPr id="19" name="Text 16"/>
          <p:cNvSpPr/>
          <p:nvPr/>
        </p:nvSpPr>
        <p:spPr>
          <a:xfrm>
            <a:off x="2834640" y="3200400"/>
            <a:ext cx="132588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E600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[breykpoint]</a:t>
            </a:r>
            <a:endParaRPr lang="en-US" sz="1150" dirty="0"/>
          </a:p>
        </p:txBody>
      </p:sp>
      <p:sp>
        <p:nvSpPr>
          <p:cNvPr id="20" name="Text 17"/>
          <p:cNvSpPr/>
          <p:nvPr/>
        </p:nvSpPr>
        <p:spPr>
          <a:xfrm>
            <a:off x="4114800" y="3200400"/>
            <a:ext cx="182880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A4E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To'xtash nuqtasi</a:t>
            </a:r>
            <a:endParaRPr lang="en-US" sz="1150" dirty="0"/>
          </a:p>
        </p:txBody>
      </p:sp>
      <p:sp>
        <p:nvSpPr>
          <p:cNvPr id="21" name="Shape 18"/>
          <p:cNvSpPr/>
          <p:nvPr/>
        </p:nvSpPr>
        <p:spPr>
          <a:xfrm>
            <a:off x="548640" y="4059936"/>
            <a:ext cx="5486400" cy="768096"/>
          </a:xfrm>
          <a:prstGeom prst="roundRect">
            <a:avLst>
              <a:gd name="adj" fmla="val 9524"/>
            </a:avLst>
          </a:prstGeom>
          <a:solidFill>
            <a:srgbClr val="F4F6FB"/>
          </a:solidFill>
          <a:ln/>
        </p:spPr>
      </p:sp>
      <p:sp>
        <p:nvSpPr>
          <p:cNvPr id="22" name="Shape 19"/>
          <p:cNvSpPr/>
          <p:nvPr/>
        </p:nvSpPr>
        <p:spPr>
          <a:xfrm>
            <a:off x="786384" y="4361688"/>
            <a:ext cx="164592" cy="164592"/>
          </a:xfrm>
          <a:prstGeom prst="ellipse">
            <a:avLst/>
          </a:prstGeom>
          <a:solidFill>
            <a:srgbClr val="E8541E"/>
          </a:solidFill>
          <a:ln/>
        </p:spPr>
      </p:sp>
      <p:sp>
        <p:nvSpPr>
          <p:cNvPr id="23" name="Text 20"/>
          <p:cNvSpPr/>
          <p:nvPr/>
        </p:nvSpPr>
        <p:spPr>
          <a:xfrm>
            <a:off x="1097280" y="4059936"/>
            <a:ext cx="196596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Log</a:t>
            </a:r>
            <a:endParaRPr lang="en-US" sz="1600" dirty="0"/>
          </a:p>
        </p:txBody>
      </p:sp>
      <p:sp>
        <p:nvSpPr>
          <p:cNvPr id="24" name="Text 21"/>
          <p:cNvSpPr/>
          <p:nvPr/>
        </p:nvSpPr>
        <p:spPr>
          <a:xfrm>
            <a:off x="2834640" y="4059936"/>
            <a:ext cx="132588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E600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[log]</a:t>
            </a:r>
            <a:endParaRPr lang="en-US" sz="1150" dirty="0"/>
          </a:p>
        </p:txBody>
      </p:sp>
      <p:sp>
        <p:nvSpPr>
          <p:cNvPr id="25" name="Text 22"/>
          <p:cNvSpPr/>
          <p:nvPr/>
        </p:nvSpPr>
        <p:spPr>
          <a:xfrm>
            <a:off x="4114800" y="4059936"/>
            <a:ext cx="182880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A4E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Yozuv (chiqarilgan ma'lumot)</a:t>
            </a:r>
            <a:endParaRPr lang="en-US" sz="1150" dirty="0"/>
          </a:p>
        </p:txBody>
      </p:sp>
      <p:sp>
        <p:nvSpPr>
          <p:cNvPr id="26" name="Shape 23"/>
          <p:cNvSpPr/>
          <p:nvPr/>
        </p:nvSpPr>
        <p:spPr>
          <a:xfrm>
            <a:off x="6537960" y="1481328"/>
            <a:ext cx="5486400" cy="768096"/>
          </a:xfrm>
          <a:prstGeom prst="roundRect">
            <a:avLst>
              <a:gd name="adj" fmla="val 9524"/>
            </a:avLst>
          </a:prstGeom>
          <a:solidFill>
            <a:srgbClr val="F4F6FB"/>
          </a:solidFill>
          <a:ln/>
        </p:spPr>
      </p:sp>
      <p:sp>
        <p:nvSpPr>
          <p:cNvPr id="27" name="Shape 24"/>
          <p:cNvSpPr/>
          <p:nvPr/>
        </p:nvSpPr>
        <p:spPr>
          <a:xfrm>
            <a:off x="6775704" y="1783080"/>
            <a:ext cx="164592" cy="164592"/>
          </a:xfrm>
          <a:prstGeom prst="ellipse">
            <a:avLst/>
          </a:prstGeom>
          <a:solidFill>
            <a:srgbClr val="6A2C91"/>
          </a:solidFill>
          <a:ln/>
        </p:spPr>
      </p:sp>
      <p:sp>
        <p:nvSpPr>
          <p:cNvPr id="28" name="Text 25"/>
          <p:cNvSpPr/>
          <p:nvPr/>
        </p:nvSpPr>
        <p:spPr>
          <a:xfrm>
            <a:off x="7086600" y="1481328"/>
            <a:ext cx="196596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Trace</a:t>
            </a:r>
            <a:endParaRPr lang="en-US" sz="1600" dirty="0"/>
          </a:p>
        </p:txBody>
      </p:sp>
      <p:sp>
        <p:nvSpPr>
          <p:cNvPr id="29" name="Text 26"/>
          <p:cNvSpPr/>
          <p:nvPr/>
        </p:nvSpPr>
        <p:spPr>
          <a:xfrm>
            <a:off x="8823960" y="1481328"/>
            <a:ext cx="132588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E600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[treys]</a:t>
            </a:r>
            <a:endParaRPr lang="en-US" sz="1150" dirty="0"/>
          </a:p>
        </p:txBody>
      </p:sp>
      <p:sp>
        <p:nvSpPr>
          <p:cNvPr id="30" name="Text 27"/>
          <p:cNvSpPr/>
          <p:nvPr/>
        </p:nvSpPr>
        <p:spPr>
          <a:xfrm>
            <a:off x="10104120" y="1481328"/>
            <a:ext cx="182880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A4E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Iz (xato yo'li)</a:t>
            </a:r>
            <a:endParaRPr lang="en-US" sz="1150" dirty="0"/>
          </a:p>
        </p:txBody>
      </p:sp>
      <p:sp>
        <p:nvSpPr>
          <p:cNvPr id="31" name="Shape 28"/>
          <p:cNvSpPr/>
          <p:nvPr/>
        </p:nvSpPr>
        <p:spPr>
          <a:xfrm>
            <a:off x="6537960" y="2340864"/>
            <a:ext cx="5486400" cy="768096"/>
          </a:xfrm>
          <a:prstGeom prst="roundRect">
            <a:avLst>
              <a:gd name="adj" fmla="val 9524"/>
            </a:avLst>
          </a:prstGeom>
          <a:solidFill>
            <a:srgbClr val="F4F6FB"/>
          </a:solidFill>
          <a:ln/>
        </p:spPr>
      </p:sp>
      <p:sp>
        <p:nvSpPr>
          <p:cNvPr id="32" name="Shape 29"/>
          <p:cNvSpPr/>
          <p:nvPr/>
        </p:nvSpPr>
        <p:spPr>
          <a:xfrm>
            <a:off x="6775704" y="2642616"/>
            <a:ext cx="164592" cy="164592"/>
          </a:xfrm>
          <a:prstGeom prst="ellipse">
            <a:avLst/>
          </a:prstGeom>
          <a:solidFill>
            <a:srgbClr val="E6007E"/>
          </a:solidFill>
          <a:ln/>
        </p:spPr>
      </p:sp>
      <p:sp>
        <p:nvSpPr>
          <p:cNvPr id="33" name="Text 30"/>
          <p:cNvSpPr/>
          <p:nvPr/>
        </p:nvSpPr>
        <p:spPr>
          <a:xfrm>
            <a:off x="7086600" y="2340864"/>
            <a:ext cx="196596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Step</a:t>
            </a:r>
            <a:endParaRPr lang="en-US" sz="1600" dirty="0"/>
          </a:p>
        </p:txBody>
      </p:sp>
      <p:sp>
        <p:nvSpPr>
          <p:cNvPr id="34" name="Text 31"/>
          <p:cNvSpPr/>
          <p:nvPr/>
        </p:nvSpPr>
        <p:spPr>
          <a:xfrm>
            <a:off x="8823960" y="2340864"/>
            <a:ext cx="132588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E600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[step]</a:t>
            </a:r>
            <a:endParaRPr lang="en-US" sz="1150" dirty="0"/>
          </a:p>
        </p:txBody>
      </p:sp>
      <p:sp>
        <p:nvSpPr>
          <p:cNvPr id="35" name="Text 32"/>
          <p:cNvSpPr/>
          <p:nvPr/>
        </p:nvSpPr>
        <p:spPr>
          <a:xfrm>
            <a:off x="10104120" y="2340864"/>
            <a:ext cx="182880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A4E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Qadam (baqadam)</a:t>
            </a:r>
            <a:endParaRPr lang="en-US" sz="1150" dirty="0"/>
          </a:p>
        </p:txBody>
      </p:sp>
      <p:sp>
        <p:nvSpPr>
          <p:cNvPr id="36" name="Shape 33"/>
          <p:cNvSpPr/>
          <p:nvPr/>
        </p:nvSpPr>
        <p:spPr>
          <a:xfrm>
            <a:off x="6537960" y="3200400"/>
            <a:ext cx="5486400" cy="768096"/>
          </a:xfrm>
          <a:prstGeom prst="roundRect">
            <a:avLst>
              <a:gd name="adj" fmla="val 9524"/>
            </a:avLst>
          </a:prstGeom>
          <a:solidFill>
            <a:srgbClr val="F4F6FB"/>
          </a:solidFill>
          <a:ln/>
        </p:spPr>
      </p:sp>
      <p:sp>
        <p:nvSpPr>
          <p:cNvPr id="37" name="Shape 34"/>
          <p:cNvSpPr/>
          <p:nvPr/>
        </p:nvSpPr>
        <p:spPr>
          <a:xfrm>
            <a:off x="6775704" y="3502152"/>
            <a:ext cx="164592" cy="164592"/>
          </a:xfrm>
          <a:prstGeom prst="ellipse">
            <a:avLst/>
          </a:prstGeom>
          <a:solidFill>
            <a:srgbClr val="00A0E0"/>
          </a:solidFill>
          <a:ln/>
        </p:spPr>
      </p:sp>
      <p:sp>
        <p:nvSpPr>
          <p:cNvPr id="38" name="Text 35"/>
          <p:cNvSpPr/>
          <p:nvPr/>
        </p:nvSpPr>
        <p:spPr>
          <a:xfrm>
            <a:off x="7086600" y="3200400"/>
            <a:ext cx="196596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Fix</a:t>
            </a:r>
            <a:endParaRPr lang="en-US" sz="1600" dirty="0"/>
          </a:p>
        </p:txBody>
      </p:sp>
      <p:sp>
        <p:nvSpPr>
          <p:cNvPr id="39" name="Text 36"/>
          <p:cNvSpPr/>
          <p:nvPr/>
        </p:nvSpPr>
        <p:spPr>
          <a:xfrm>
            <a:off x="8823960" y="3200400"/>
            <a:ext cx="132588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E600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[fiks]</a:t>
            </a:r>
            <a:endParaRPr lang="en-US" sz="1150" dirty="0"/>
          </a:p>
        </p:txBody>
      </p:sp>
      <p:sp>
        <p:nvSpPr>
          <p:cNvPr id="40" name="Text 37"/>
          <p:cNvSpPr/>
          <p:nvPr/>
        </p:nvSpPr>
        <p:spPr>
          <a:xfrm>
            <a:off x="10104120" y="3200400"/>
            <a:ext cx="182880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A4E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Tuzatish</a:t>
            </a:r>
            <a:endParaRPr lang="en-US" sz="1150" dirty="0"/>
          </a:p>
        </p:txBody>
      </p:sp>
      <p:sp>
        <p:nvSpPr>
          <p:cNvPr id="41" name="Shape 38"/>
          <p:cNvSpPr/>
          <p:nvPr/>
        </p:nvSpPr>
        <p:spPr>
          <a:xfrm>
            <a:off x="6537960" y="4059936"/>
            <a:ext cx="5486400" cy="768096"/>
          </a:xfrm>
          <a:prstGeom prst="roundRect">
            <a:avLst>
              <a:gd name="adj" fmla="val 9524"/>
            </a:avLst>
          </a:prstGeom>
          <a:solidFill>
            <a:srgbClr val="F4F6FB"/>
          </a:solidFill>
          <a:ln/>
        </p:spPr>
      </p:sp>
      <p:sp>
        <p:nvSpPr>
          <p:cNvPr id="42" name="Shape 39"/>
          <p:cNvSpPr/>
          <p:nvPr/>
        </p:nvSpPr>
        <p:spPr>
          <a:xfrm>
            <a:off x="6775704" y="4361688"/>
            <a:ext cx="164592" cy="164592"/>
          </a:xfrm>
          <a:prstGeom prst="ellipse">
            <a:avLst/>
          </a:prstGeom>
          <a:solidFill>
            <a:srgbClr val="3AA935"/>
          </a:solidFill>
          <a:ln/>
        </p:spPr>
      </p:sp>
      <p:sp>
        <p:nvSpPr>
          <p:cNvPr id="43" name="Text 40"/>
          <p:cNvSpPr/>
          <p:nvPr/>
        </p:nvSpPr>
        <p:spPr>
          <a:xfrm>
            <a:off x="7086600" y="4059936"/>
            <a:ext cx="196596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Reproduce</a:t>
            </a:r>
            <a:endParaRPr lang="en-US" sz="1600" dirty="0"/>
          </a:p>
        </p:txBody>
      </p:sp>
      <p:sp>
        <p:nvSpPr>
          <p:cNvPr id="44" name="Text 41"/>
          <p:cNvSpPr/>
          <p:nvPr/>
        </p:nvSpPr>
        <p:spPr>
          <a:xfrm>
            <a:off x="8823960" y="4059936"/>
            <a:ext cx="132588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E600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[riprodyus]</a:t>
            </a:r>
            <a:endParaRPr lang="en-US" sz="1150" dirty="0"/>
          </a:p>
        </p:txBody>
      </p:sp>
      <p:sp>
        <p:nvSpPr>
          <p:cNvPr id="45" name="Text 42"/>
          <p:cNvSpPr/>
          <p:nvPr/>
        </p:nvSpPr>
        <p:spPr>
          <a:xfrm>
            <a:off x="10104120" y="4059936"/>
            <a:ext cx="182880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A4E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Qayta chiqarish (xatoni)</a:t>
            </a:r>
            <a:endParaRPr lang="en-US" sz="1150" dirty="0"/>
          </a:p>
        </p:txBody>
      </p:sp>
      <p:sp>
        <p:nvSpPr>
          <p:cNvPr id="46" name="Text 43"/>
          <p:cNvSpPr/>
          <p:nvPr/>
        </p:nvSpPr>
        <p:spPr>
          <a:xfrm>
            <a:off x="548640" y="64008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B2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«IT Shaharcha»</a:t>
            </a:r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IT English · 17-dars</a:t>
            </a:r>
            <a:endParaRPr lang="en-US" sz="900" dirty="0"/>
          </a:p>
        </p:txBody>
      </p:sp>
      <p:sp>
        <p:nvSpPr>
          <p:cNvPr id="47" name="Text 44"/>
          <p:cNvSpPr/>
          <p:nvPr/>
        </p:nvSpPr>
        <p:spPr>
          <a:xfrm>
            <a:off x="10728655" y="640080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9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566928" cy="566928"/>
          </a:xfrm>
          <a:prstGeom prst="roundRect">
            <a:avLst>
              <a:gd name="adj" fmla="val 16129"/>
            </a:avLst>
          </a:prstGeom>
          <a:solidFill>
            <a:srgbClr val="6A2C91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57200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1234440" y="457200"/>
            <a:ext cx="8686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B2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Foydali iboralar</a:t>
            </a:r>
            <a:endParaRPr lang="en-US" sz="2400" dirty="0"/>
          </a:p>
        </p:txBody>
      </p:sp>
      <p:pic>
        <p:nvPicPr>
          <p:cNvPr id="5" name="Image 0" descr="/sessions/epic-sharp-feynman/mnt/it_inglish/logo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48695" y="457200"/>
            <a:ext cx="566928" cy="566928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48640" y="123444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Terminlar gap ichida — aynan shunday ular real ishda ishlatiladi:</a:t>
            </a:r>
            <a:endParaRPr lang="en-US" sz="1500" dirty="0"/>
          </a:p>
        </p:txBody>
      </p:sp>
      <p:sp>
        <p:nvSpPr>
          <p:cNvPr id="7" name="Shape 4"/>
          <p:cNvSpPr/>
          <p:nvPr/>
        </p:nvSpPr>
        <p:spPr>
          <a:xfrm>
            <a:off x="548640" y="1828800"/>
            <a:ext cx="11091672" cy="1234440"/>
          </a:xfrm>
          <a:prstGeom prst="roundRect">
            <a:avLst>
              <a:gd name="adj" fmla="val 740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8895B3">
                <a:alpha val="22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914400" y="2034540"/>
            <a:ext cx="822960" cy="822960"/>
          </a:xfrm>
          <a:prstGeom prst="ellipse">
            <a:avLst/>
          </a:prstGeom>
          <a:solidFill>
            <a:srgbClr val="00A0E0"/>
          </a:solidFill>
          <a:ln/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5568" y="2235708"/>
            <a:ext cx="420624" cy="420624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2011680" y="1993392"/>
            <a:ext cx="935431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B2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"I can't reproduce this bug."</a:t>
            </a:r>
            <a:endParaRPr lang="en-US" sz="1900" dirty="0"/>
          </a:p>
        </p:txBody>
      </p:sp>
      <p:sp>
        <p:nvSpPr>
          <p:cNvPr id="11" name="Text 7"/>
          <p:cNvSpPr/>
          <p:nvPr/>
        </p:nvSpPr>
        <p:spPr>
          <a:xfrm>
            <a:off x="2011680" y="2542032"/>
            <a:ext cx="935431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 xatoni qayta chiqara olmayapman.</a:t>
            </a:r>
            <a:endParaRPr lang="en-US" sz="1400" dirty="0"/>
          </a:p>
        </p:txBody>
      </p:sp>
      <p:sp>
        <p:nvSpPr>
          <p:cNvPr id="12" name="Shape 8"/>
          <p:cNvSpPr/>
          <p:nvPr/>
        </p:nvSpPr>
        <p:spPr>
          <a:xfrm>
            <a:off x="548640" y="3355848"/>
            <a:ext cx="11091672" cy="1234440"/>
          </a:xfrm>
          <a:prstGeom prst="roundRect">
            <a:avLst>
              <a:gd name="adj" fmla="val 740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8895B3">
                <a:alpha val="22000"/>
              </a:srgbClr>
            </a:outerShdw>
          </a:effectLst>
        </p:spPr>
      </p:sp>
      <p:sp>
        <p:nvSpPr>
          <p:cNvPr id="13" name="Shape 9"/>
          <p:cNvSpPr/>
          <p:nvPr/>
        </p:nvSpPr>
        <p:spPr>
          <a:xfrm>
            <a:off x="914400" y="3561588"/>
            <a:ext cx="822960" cy="822960"/>
          </a:xfrm>
          <a:prstGeom prst="ellipse">
            <a:avLst/>
          </a:prstGeom>
          <a:solidFill>
            <a:srgbClr val="E8541E"/>
          </a:solidFill>
          <a:ln/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5568" y="3762756"/>
            <a:ext cx="420624" cy="420624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2011680" y="3520440"/>
            <a:ext cx="935431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B2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"Add a log to see the value."</a:t>
            </a:r>
            <a:endParaRPr lang="en-US" sz="1900" dirty="0"/>
          </a:p>
        </p:txBody>
      </p:sp>
      <p:sp>
        <p:nvSpPr>
          <p:cNvPr id="16" name="Text 11"/>
          <p:cNvSpPr/>
          <p:nvPr/>
        </p:nvSpPr>
        <p:spPr>
          <a:xfrm>
            <a:off x="2011680" y="4069080"/>
            <a:ext cx="935431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Qiymatni ko'rish uchun log qo'shing.</a:t>
            </a:r>
            <a:endParaRPr lang="en-US" sz="1400" dirty="0"/>
          </a:p>
        </p:txBody>
      </p:sp>
      <p:sp>
        <p:nvSpPr>
          <p:cNvPr id="17" name="Shape 12"/>
          <p:cNvSpPr/>
          <p:nvPr/>
        </p:nvSpPr>
        <p:spPr>
          <a:xfrm>
            <a:off x="548640" y="4882896"/>
            <a:ext cx="11091672" cy="1234440"/>
          </a:xfrm>
          <a:prstGeom prst="roundRect">
            <a:avLst>
              <a:gd name="adj" fmla="val 740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8895B3">
                <a:alpha val="22000"/>
              </a:srgbClr>
            </a:outerShdw>
          </a:effectLst>
        </p:spPr>
      </p:sp>
      <p:sp>
        <p:nvSpPr>
          <p:cNvPr id="18" name="Shape 13"/>
          <p:cNvSpPr/>
          <p:nvPr/>
        </p:nvSpPr>
        <p:spPr>
          <a:xfrm>
            <a:off x="914400" y="5088636"/>
            <a:ext cx="822960" cy="822960"/>
          </a:xfrm>
          <a:prstGeom prst="ellipse">
            <a:avLst/>
          </a:prstGeom>
          <a:solidFill>
            <a:srgbClr val="3AA935"/>
          </a:solidFill>
          <a:ln/>
        </p:spPr>
      </p:sp>
      <p:pic>
        <p:nvPicPr>
          <p:cNvPr id="19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15568" y="5289804"/>
            <a:ext cx="420624" cy="420624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2011680" y="5047488"/>
            <a:ext cx="935431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B2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"Set a breakpoint here."</a:t>
            </a:r>
            <a:endParaRPr lang="en-US" sz="1900" dirty="0"/>
          </a:p>
        </p:txBody>
      </p:sp>
      <p:sp>
        <p:nvSpPr>
          <p:cNvPr id="21" name="Text 15"/>
          <p:cNvSpPr/>
          <p:nvPr/>
        </p:nvSpPr>
        <p:spPr>
          <a:xfrm>
            <a:off x="2011680" y="5596128"/>
            <a:ext cx="935431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 yerga to'xtash nuqtasi qo'ying.</a:t>
            </a:r>
            <a:endParaRPr lang="en-US" sz="1400" dirty="0"/>
          </a:p>
        </p:txBody>
      </p:sp>
      <p:sp>
        <p:nvSpPr>
          <p:cNvPr id="22" name="Text 16"/>
          <p:cNvSpPr/>
          <p:nvPr/>
        </p:nvSpPr>
        <p:spPr>
          <a:xfrm>
            <a:off x="548640" y="64008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B2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«IT Shaharcha»</a:t>
            </a:r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IT English · 17-dars</a:t>
            </a:r>
            <a:endParaRPr lang="en-US" sz="900" dirty="0"/>
          </a:p>
        </p:txBody>
      </p:sp>
      <p:sp>
        <p:nvSpPr>
          <p:cNvPr id="23" name="Text 17"/>
          <p:cNvSpPr/>
          <p:nvPr/>
        </p:nvSpPr>
        <p:spPr>
          <a:xfrm>
            <a:off x="10728655" y="640080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9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566928" cy="566928"/>
          </a:xfrm>
          <a:prstGeom prst="roundRect">
            <a:avLst>
              <a:gd name="adj" fmla="val 16129"/>
            </a:avLst>
          </a:prstGeom>
          <a:solidFill>
            <a:srgbClr val="E6007E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57200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1234440" y="457200"/>
            <a:ext cx="8686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B2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Mini suhbat</a:t>
            </a:r>
            <a:endParaRPr lang="en-US" sz="2400" dirty="0"/>
          </a:p>
        </p:txBody>
      </p:sp>
      <p:pic>
        <p:nvPicPr>
          <p:cNvPr id="5" name="Image 0" descr="/sessions/epic-sharp-feynman/mnt/it_inglish/logo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48695" y="457200"/>
            <a:ext cx="566928" cy="566928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48640" y="123444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Mavzuga oid qisqa suhbat:</a:t>
            </a:r>
            <a:endParaRPr lang="en-US" sz="1500" dirty="0"/>
          </a:p>
        </p:txBody>
      </p:sp>
      <p:sp>
        <p:nvSpPr>
          <p:cNvPr id="7" name="Shape 4"/>
          <p:cNvSpPr/>
          <p:nvPr/>
        </p:nvSpPr>
        <p:spPr>
          <a:xfrm>
            <a:off x="640080" y="1943100"/>
            <a:ext cx="731520" cy="731520"/>
          </a:xfrm>
          <a:prstGeom prst="ellipse">
            <a:avLst/>
          </a:prstGeom>
          <a:solidFill>
            <a:srgbClr val="00A0E0"/>
          </a:solidFill>
          <a:ln/>
          <a:effectLst>
            <a:outerShdw sx="100000" sy="100000" kx="0" ky="0" algn="bl" rotWithShape="0" blurRad="114300" dist="38100" dir="5400000">
              <a:srgbClr val="8895B3">
                <a:alpha val="22000"/>
              </a:srgbClr>
            </a:outerShdw>
          </a:effectLst>
        </p:spPr>
      </p:sp>
      <p:sp>
        <p:nvSpPr>
          <p:cNvPr id="8" name="Text 5"/>
          <p:cNvSpPr/>
          <p:nvPr/>
        </p:nvSpPr>
        <p:spPr>
          <a:xfrm>
            <a:off x="640080" y="194310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</a:t>
            </a:r>
            <a:endParaRPr lang="en-US" sz="2400" dirty="0"/>
          </a:p>
        </p:txBody>
      </p:sp>
      <p:sp>
        <p:nvSpPr>
          <p:cNvPr id="9" name="Shape 6"/>
          <p:cNvSpPr/>
          <p:nvPr/>
        </p:nvSpPr>
        <p:spPr>
          <a:xfrm>
            <a:off x="1554480" y="1783080"/>
            <a:ext cx="7680960" cy="1051560"/>
          </a:xfrm>
          <a:prstGeom prst="roundRect">
            <a:avLst>
              <a:gd name="adj" fmla="val 10435"/>
            </a:avLst>
          </a:prstGeom>
          <a:solidFill>
            <a:srgbClr val="F4F6FB"/>
          </a:solidFill>
          <a:ln/>
          <a:effectLst>
            <a:outerShdw sx="100000" sy="100000" kx="0" ky="0" algn="bl" rotWithShape="0" blurRad="114300" dist="38100" dir="5400000">
              <a:srgbClr val="8895B3">
                <a:alpha val="22000"/>
              </a:srgbClr>
            </a:outerShdw>
          </a:effectLst>
        </p:spPr>
      </p:sp>
      <p:sp>
        <p:nvSpPr>
          <p:cNvPr id="10" name="Text 7"/>
          <p:cNvSpPr/>
          <p:nvPr/>
        </p:nvSpPr>
        <p:spPr>
          <a:xfrm>
            <a:off x="1874520" y="1920240"/>
            <a:ext cx="7040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app crashes sometimes.</a:t>
            </a:r>
            <a:endParaRPr lang="en-US" sz="1600" dirty="0"/>
          </a:p>
        </p:txBody>
      </p:sp>
      <p:sp>
        <p:nvSpPr>
          <p:cNvPr id="11" name="Text 8"/>
          <p:cNvSpPr/>
          <p:nvPr/>
        </p:nvSpPr>
        <p:spPr>
          <a:xfrm>
            <a:off x="1874520" y="2377440"/>
            <a:ext cx="7040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Ilova ba'zan buziladi.</a:t>
            </a:r>
            <a:endParaRPr lang="en-US" sz="1250" dirty="0"/>
          </a:p>
        </p:txBody>
      </p:sp>
      <p:sp>
        <p:nvSpPr>
          <p:cNvPr id="12" name="Shape 9"/>
          <p:cNvSpPr/>
          <p:nvPr/>
        </p:nvSpPr>
        <p:spPr>
          <a:xfrm>
            <a:off x="10820095" y="3159252"/>
            <a:ext cx="731520" cy="731520"/>
          </a:xfrm>
          <a:prstGeom prst="ellipse">
            <a:avLst/>
          </a:prstGeom>
          <a:solidFill>
            <a:srgbClr val="E6007E"/>
          </a:solidFill>
          <a:ln/>
          <a:effectLst>
            <a:outerShdw sx="100000" sy="100000" kx="0" ky="0" algn="bl" rotWithShape="0" blurRad="114300" dist="38100" dir="5400000">
              <a:srgbClr val="8895B3">
                <a:alpha val="22000"/>
              </a:srgbClr>
            </a:outerShdw>
          </a:effectLst>
        </p:spPr>
      </p:sp>
      <p:sp>
        <p:nvSpPr>
          <p:cNvPr id="13" name="Text 10"/>
          <p:cNvSpPr/>
          <p:nvPr/>
        </p:nvSpPr>
        <p:spPr>
          <a:xfrm>
            <a:off x="10820095" y="3159252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</a:t>
            </a:r>
            <a:endParaRPr lang="en-US" sz="2400" dirty="0"/>
          </a:p>
        </p:txBody>
      </p:sp>
      <p:sp>
        <p:nvSpPr>
          <p:cNvPr id="14" name="Shape 11"/>
          <p:cNvSpPr/>
          <p:nvPr/>
        </p:nvSpPr>
        <p:spPr>
          <a:xfrm>
            <a:off x="3047695" y="2999232"/>
            <a:ext cx="7680960" cy="1051560"/>
          </a:xfrm>
          <a:prstGeom prst="roundRect">
            <a:avLst>
              <a:gd name="adj" fmla="val 10435"/>
            </a:avLst>
          </a:prstGeom>
          <a:solidFill>
            <a:srgbClr val="FCEBF4"/>
          </a:solidFill>
          <a:ln/>
          <a:effectLst>
            <a:outerShdw sx="100000" sy="100000" kx="0" ky="0" algn="bl" rotWithShape="0" blurRad="114300" dist="38100" dir="5400000">
              <a:srgbClr val="8895B3">
                <a:alpha val="22000"/>
              </a:srgbClr>
            </a:outerShdw>
          </a:effectLst>
        </p:spPr>
      </p:sp>
      <p:sp>
        <p:nvSpPr>
          <p:cNvPr id="15" name="Text 12"/>
          <p:cNvSpPr/>
          <p:nvPr/>
        </p:nvSpPr>
        <p:spPr>
          <a:xfrm>
            <a:off x="3367735" y="3136392"/>
            <a:ext cx="7040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Can you reproduce the bug?</a:t>
            </a:r>
            <a:endParaRPr lang="en-US" sz="1600" dirty="0"/>
          </a:p>
        </p:txBody>
      </p:sp>
      <p:sp>
        <p:nvSpPr>
          <p:cNvPr id="16" name="Text 13"/>
          <p:cNvSpPr/>
          <p:nvPr/>
        </p:nvSpPr>
        <p:spPr>
          <a:xfrm>
            <a:off x="3367735" y="3593592"/>
            <a:ext cx="7040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Xatoni qayta chiqara olasanmi?</a:t>
            </a:r>
            <a:endParaRPr lang="en-US" sz="1250" dirty="0"/>
          </a:p>
        </p:txBody>
      </p:sp>
      <p:sp>
        <p:nvSpPr>
          <p:cNvPr id="17" name="Shape 14"/>
          <p:cNvSpPr/>
          <p:nvPr/>
        </p:nvSpPr>
        <p:spPr>
          <a:xfrm>
            <a:off x="640080" y="4375404"/>
            <a:ext cx="731520" cy="731520"/>
          </a:xfrm>
          <a:prstGeom prst="ellipse">
            <a:avLst/>
          </a:prstGeom>
          <a:solidFill>
            <a:srgbClr val="00A0E0"/>
          </a:solidFill>
          <a:ln/>
          <a:effectLst>
            <a:outerShdw sx="100000" sy="100000" kx="0" ky="0" algn="bl" rotWithShape="0" blurRad="114300" dist="38100" dir="5400000">
              <a:srgbClr val="8895B3">
                <a:alpha val="22000"/>
              </a:srgbClr>
            </a:outerShdw>
          </a:effectLst>
        </p:spPr>
      </p:sp>
      <p:sp>
        <p:nvSpPr>
          <p:cNvPr id="18" name="Text 15"/>
          <p:cNvSpPr/>
          <p:nvPr/>
        </p:nvSpPr>
        <p:spPr>
          <a:xfrm>
            <a:off x="640080" y="4375404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</a:t>
            </a:r>
            <a:endParaRPr lang="en-US" sz="2400" dirty="0"/>
          </a:p>
        </p:txBody>
      </p:sp>
      <p:sp>
        <p:nvSpPr>
          <p:cNvPr id="19" name="Shape 16"/>
          <p:cNvSpPr/>
          <p:nvPr/>
        </p:nvSpPr>
        <p:spPr>
          <a:xfrm>
            <a:off x="1554480" y="4215384"/>
            <a:ext cx="7680960" cy="1051560"/>
          </a:xfrm>
          <a:prstGeom prst="roundRect">
            <a:avLst>
              <a:gd name="adj" fmla="val 10435"/>
            </a:avLst>
          </a:prstGeom>
          <a:solidFill>
            <a:srgbClr val="F4F6FB"/>
          </a:solidFill>
          <a:ln/>
          <a:effectLst>
            <a:outerShdw sx="100000" sy="100000" kx="0" ky="0" algn="bl" rotWithShape="0" blurRad="114300" dist="38100" dir="5400000">
              <a:srgbClr val="8895B3">
                <a:alpha val="22000"/>
              </a:srgbClr>
            </a:outerShdw>
          </a:effectLst>
        </p:spPr>
      </p:sp>
      <p:sp>
        <p:nvSpPr>
          <p:cNvPr id="20" name="Text 17"/>
          <p:cNvSpPr/>
          <p:nvPr/>
        </p:nvSpPr>
        <p:spPr>
          <a:xfrm>
            <a:off x="1874520" y="4352544"/>
            <a:ext cx="7040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Not always.</a:t>
            </a:r>
            <a:endParaRPr lang="en-US" sz="1600" dirty="0"/>
          </a:p>
        </p:txBody>
      </p:sp>
      <p:sp>
        <p:nvSpPr>
          <p:cNvPr id="21" name="Text 18"/>
          <p:cNvSpPr/>
          <p:nvPr/>
        </p:nvSpPr>
        <p:spPr>
          <a:xfrm>
            <a:off x="1874520" y="4809744"/>
            <a:ext cx="7040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 doim emas.</a:t>
            </a:r>
            <a:endParaRPr lang="en-US" sz="1250" dirty="0"/>
          </a:p>
        </p:txBody>
      </p:sp>
      <p:sp>
        <p:nvSpPr>
          <p:cNvPr id="22" name="Shape 19"/>
          <p:cNvSpPr/>
          <p:nvPr/>
        </p:nvSpPr>
        <p:spPr>
          <a:xfrm>
            <a:off x="10820095" y="5591556"/>
            <a:ext cx="731520" cy="731520"/>
          </a:xfrm>
          <a:prstGeom prst="ellipse">
            <a:avLst/>
          </a:prstGeom>
          <a:solidFill>
            <a:srgbClr val="E6007E"/>
          </a:solidFill>
          <a:ln/>
          <a:effectLst>
            <a:outerShdw sx="100000" sy="100000" kx="0" ky="0" algn="bl" rotWithShape="0" blurRad="114300" dist="38100" dir="5400000">
              <a:srgbClr val="8895B3">
                <a:alpha val="22000"/>
              </a:srgbClr>
            </a:outerShdw>
          </a:effectLst>
        </p:spPr>
      </p:sp>
      <p:sp>
        <p:nvSpPr>
          <p:cNvPr id="23" name="Text 20"/>
          <p:cNvSpPr/>
          <p:nvPr/>
        </p:nvSpPr>
        <p:spPr>
          <a:xfrm>
            <a:off x="10820095" y="5591556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</a:t>
            </a:r>
            <a:endParaRPr lang="en-US" sz="2400" dirty="0"/>
          </a:p>
        </p:txBody>
      </p:sp>
      <p:sp>
        <p:nvSpPr>
          <p:cNvPr id="24" name="Shape 21"/>
          <p:cNvSpPr/>
          <p:nvPr/>
        </p:nvSpPr>
        <p:spPr>
          <a:xfrm>
            <a:off x="3047695" y="5431536"/>
            <a:ext cx="7680960" cy="1051560"/>
          </a:xfrm>
          <a:prstGeom prst="roundRect">
            <a:avLst>
              <a:gd name="adj" fmla="val 10435"/>
            </a:avLst>
          </a:prstGeom>
          <a:solidFill>
            <a:srgbClr val="FCEBF4"/>
          </a:solidFill>
          <a:ln/>
          <a:effectLst>
            <a:outerShdw sx="100000" sy="100000" kx="0" ky="0" algn="bl" rotWithShape="0" blurRad="114300" dist="38100" dir="5400000">
              <a:srgbClr val="8895B3">
                <a:alpha val="22000"/>
              </a:srgbClr>
            </a:outerShdw>
          </a:effectLst>
        </p:spPr>
      </p:sp>
      <p:sp>
        <p:nvSpPr>
          <p:cNvPr id="25" name="Text 22"/>
          <p:cNvSpPr/>
          <p:nvPr/>
        </p:nvSpPr>
        <p:spPr>
          <a:xfrm>
            <a:off x="3367735" y="5568696"/>
            <a:ext cx="7040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Add some logs to find it.</a:t>
            </a:r>
            <a:endParaRPr lang="en-US" sz="1600" dirty="0"/>
          </a:p>
        </p:txBody>
      </p:sp>
      <p:sp>
        <p:nvSpPr>
          <p:cNvPr id="26" name="Text 23"/>
          <p:cNvSpPr/>
          <p:nvPr/>
        </p:nvSpPr>
        <p:spPr>
          <a:xfrm>
            <a:off x="3367735" y="6025896"/>
            <a:ext cx="7040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Topish uchun loglar qo'sh.</a:t>
            </a:r>
            <a:endParaRPr lang="en-US" sz="1250" dirty="0"/>
          </a:p>
        </p:txBody>
      </p:sp>
      <p:sp>
        <p:nvSpPr>
          <p:cNvPr id="27" name="Text 24"/>
          <p:cNvSpPr/>
          <p:nvPr/>
        </p:nvSpPr>
        <p:spPr>
          <a:xfrm>
            <a:off x="548640" y="64008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B2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«IT Shaharcha»</a:t>
            </a:r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IT English · 17-dars</a:t>
            </a:r>
            <a:endParaRPr lang="en-US" sz="900" dirty="0"/>
          </a:p>
        </p:txBody>
      </p:sp>
      <p:sp>
        <p:nvSpPr>
          <p:cNvPr id="28" name="Text 25"/>
          <p:cNvSpPr/>
          <p:nvPr/>
        </p:nvSpPr>
        <p:spPr>
          <a:xfrm>
            <a:off x="10728655" y="640080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9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566928" cy="566928"/>
          </a:xfrm>
          <a:prstGeom prst="roundRect">
            <a:avLst>
              <a:gd name="adj" fmla="val 16129"/>
            </a:avLst>
          </a:prstGeom>
          <a:solidFill>
            <a:srgbClr val="3AA935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57200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1234440" y="457200"/>
            <a:ext cx="8686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B2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Amaliy mashq</a:t>
            </a:r>
            <a:endParaRPr lang="en-US" sz="2400" dirty="0"/>
          </a:p>
        </p:txBody>
      </p:sp>
      <p:pic>
        <p:nvPicPr>
          <p:cNvPr id="5" name="Image 0" descr="/sessions/epic-sharp-feynman/mnt/it_inglish/logo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48695" y="457200"/>
            <a:ext cx="566928" cy="566928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548640" y="1600200"/>
            <a:ext cx="6949440" cy="868680"/>
          </a:xfrm>
          <a:prstGeom prst="roundRect">
            <a:avLst>
              <a:gd name="adj" fmla="val 947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8895B3">
                <a:alpha val="22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804672" y="1833372"/>
            <a:ext cx="402336" cy="402336"/>
          </a:xfrm>
          <a:prstGeom prst="ellipse">
            <a:avLst/>
          </a:prstGeom>
          <a:solidFill>
            <a:srgbClr val="3AA935"/>
          </a:solidFill>
          <a:ln/>
        </p:spPr>
      </p:sp>
      <p:sp>
        <p:nvSpPr>
          <p:cNvPr id="8" name="Text 5"/>
          <p:cNvSpPr/>
          <p:nvPr/>
        </p:nvSpPr>
        <p:spPr>
          <a:xfrm>
            <a:off x="804672" y="1833372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1417320" y="1600200"/>
            <a:ext cx="58978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F22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“Xato / kamchilik” — inglizchasi qaysi so'z?</a:t>
            </a:r>
            <a:endParaRPr lang="en-US" sz="1400" dirty="0"/>
          </a:p>
        </p:txBody>
      </p:sp>
      <p:sp>
        <p:nvSpPr>
          <p:cNvPr id="10" name="Shape 7"/>
          <p:cNvSpPr/>
          <p:nvPr/>
        </p:nvSpPr>
        <p:spPr>
          <a:xfrm>
            <a:off x="548640" y="2670048"/>
            <a:ext cx="6949440" cy="868680"/>
          </a:xfrm>
          <a:prstGeom prst="roundRect">
            <a:avLst>
              <a:gd name="adj" fmla="val 947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8895B3">
                <a:alpha val="22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804672" y="2903220"/>
            <a:ext cx="402336" cy="402336"/>
          </a:xfrm>
          <a:prstGeom prst="ellipse">
            <a:avLst/>
          </a:prstGeom>
          <a:solidFill>
            <a:srgbClr val="3AA935"/>
          </a:solidFill>
          <a:ln/>
        </p:spPr>
      </p:sp>
      <p:sp>
        <p:nvSpPr>
          <p:cNvPr id="12" name="Text 9"/>
          <p:cNvSpPr/>
          <p:nvPr/>
        </p:nvSpPr>
        <p:spPr>
          <a:xfrm>
            <a:off x="804672" y="2903220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500" dirty="0"/>
          </a:p>
        </p:txBody>
      </p:sp>
      <p:sp>
        <p:nvSpPr>
          <p:cNvPr id="13" name="Text 10"/>
          <p:cNvSpPr/>
          <p:nvPr/>
        </p:nvSpPr>
        <p:spPr>
          <a:xfrm>
            <a:off x="1417320" y="2670048"/>
            <a:ext cx="58978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F22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Tarjima qiling: «Bu xatoni qayta chiqara olmayapman.»</a:t>
            </a:r>
            <a:endParaRPr lang="en-US" sz="1400" dirty="0"/>
          </a:p>
        </p:txBody>
      </p:sp>
      <p:sp>
        <p:nvSpPr>
          <p:cNvPr id="14" name="Shape 11"/>
          <p:cNvSpPr/>
          <p:nvPr/>
        </p:nvSpPr>
        <p:spPr>
          <a:xfrm>
            <a:off x="548640" y="3739896"/>
            <a:ext cx="6949440" cy="868680"/>
          </a:xfrm>
          <a:prstGeom prst="roundRect">
            <a:avLst>
              <a:gd name="adj" fmla="val 947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8895B3">
                <a:alpha val="22000"/>
              </a:srgbClr>
            </a:outerShdw>
          </a:effectLst>
        </p:spPr>
      </p:sp>
      <p:sp>
        <p:nvSpPr>
          <p:cNvPr id="15" name="Shape 12"/>
          <p:cNvSpPr/>
          <p:nvPr/>
        </p:nvSpPr>
        <p:spPr>
          <a:xfrm>
            <a:off x="804672" y="3973068"/>
            <a:ext cx="402336" cy="402336"/>
          </a:xfrm>
          <a:prstGeom prst="ellipse">
            <a:avLst/>
          </a:prstGeom>
          <a:solidFill>
            <a:srgbClr val="3AA935"/>
          </a:solidFill>
          <a:ln/>
        </p:spPr>
      </p:sp>
      <p:sp>
        <p:nvSpPr>
          <p:cNvPr id="16" name="Text 13"/>
          <p:cNvSpPr/>
          <p:nvPr/>
        </p:nvSpPr>
        <p:spPr>
          <a:xfrm>
            <a:off x="804672" y="3973068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500" dirty="0"/>
          </a:p>
        </p:txBody>
      </p:sp>
      <p:sp>
        <p:nvSpPr>
          <p:cNvPr id="17" name="Text 14"/>
          <p:cNvSpPr/>
          <p:nvPr/>
        </p:nvSpPr>
        <p:spPr>
          <a:xfrm>
            <a:off x="1417320" y="3739896"/>
            <a:ext cx="58978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F22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 keltiring: Debug · Breakpoint · Log</a:t>
            </a:r>
            <a:endParaRPr lang="en-US" sz="1400" dirty="0"/>
          </a:p>
        </p:txBody>
      </p:sp>
      <p:sp>
        <p:nvSpPr>
          <p:cNvPr id="18" name="Shape 15"/>
          <p:cNvSpPr/>
          <p:nvPr/>
        </p:nvSpPr>
        <p:spPr>
          <a:xfrm>
            <a:off x="548640" y="4809744"/>
            <a:ext cx="6949440" cy="868680"/>
          </a:xfrm>
          <a:prstGeom prst="roundRect">
            <a:avLst>
              <a:gd name="adj" fmla="val 947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8895B3">
                <a:alpha val="22000"/>
              </a:srgbClr>
            </a:outerShdw>
          </a:effectLst>
        </p:spPr>
      </p:sp>
      <p:sp>
        <p:nvSpPr>
          <p:cNvPr id="19" name="Shape 16"/>
          <p:cNvSpPr/>
          <p:nvPr/>
        </p:nvSpPr>
        <p:spPr>
          <a:xfrm>
            <a:off x="804672" y="5042916"/>
            <a:ext cx="402336" cy="402336"/>
          </a:xfrm>
          <a:prstGeom prst="ellipse">
            <a:avLst/>
          </a:prstGeom>
          <a:solidFill>
            <a:srgbClr val="3AA935"/>
          </a:solidFill>
          <a:ln/>
        </p:spPr>
      </p:sp>
      <p:sp>
        <p:nvSpPr>
          <p:cNvPr id="20" name="Text 17"/>
          <p:cNvSpPr/>
          <p:nvPr/>
        </p:nvSpPr>
        <p:spPr>
          <a:xfrm>
            <a:off x="804672" y="5042916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500" dirty="0"/>
          </a:p>
        </p:txBody>
      </p:sp>
      <p:sp>
        <p:nvSpPr>
          <p:cNvPr id="21" name="Text 18"/>
          <p:cNvSpPr/>
          <p:nvPr/>
        </p:nvSpPr>
        <p:spPr>
          <a:xfrm>
            <a:off x="1417320" y="4809744"/>
            <a:ext cx="58978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F22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“Bug” so'zi bilan bitta inglizcha gap tuzing.</a:t>
            </a:r>
            <a:endParaRPr lang="en-US" sz="1400" dirty="0"/>
          </a:p>
        </p:txBody>
      </p:sp>
      <p:sp>
        <p:nvSpPr>
          <p:cNvPr id="22" name="Shape 19"/>
          <p:cNvSpPr/>
          <p:nvPr/>
        </p:nvSpPr>
        <p:spPr>
          <a:xfrm>
            <a:off x="7772400" y="1600200"/>
            <a:ext cx="3867912" cy="4498848"/>
          </a:xfrm>
          <a:prstGeom prst="roundRect">
            <a:avLst>
              <a:gd name="adj" fmla="val 3310"/>
            </a:avLst>
          </a:prstGeom>
          <a:solidFill>
            <a:srgbClr val="E8541E"/>
          </a:solidFill>
          <a:ln/>
          <a:effectLst>
            <a:outerShdw sx="100000" sy="100000" kx="0" ky="0" algn="bl" rotWithShape="0" blurRad="114300" dist="38100" dir="5400000">
              <a:srgbClr val="8895B3">
                <a:alpha val="22000"/>
              </a:srgbClr>
            </a:outerShdw>
          </a:effectLst>
        </p:spPr>
      </p:sp>
      <p:pic>
        <p:nvPicPr>
          <p:cNvPr id="2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92440" y="1920240"/>
            <a:ext cx="640080" cy="640080"/>
          </a:xfrm>
          <a:prstGeom prst="rect">
            <a:avLst/>
          </a:prstGeom>
        </p:spPr>
      </p:pic>
      <p:sp>
        <p:nvSpPr>
          <p:cNvPr id="24" name="Text 20"/>
          <p:cNvSpPr/>
          <p:nvPr/>
        </p:nvSpPr>
        <p:spPr>
          <a:xfrm>
            <a:off x="8823960" y="1920240"/>
            <a:ext cx="2651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Uy vazifasi</a:t>
            </a:r>
            <a:endParaRPr lang="en-US" sz="2400" dirty="0"/>
          </a:p>
        </p:txBody>
      </p:sp>
      <p:sp>
        <p:nvSpPr>
          <p:cNvPr id="25" name="Text 21"/>
          <p:cNvSpPr/>
          <p:nvPr/>
        </p:nvSpPr>
        <p:spPr>
          <a:xfrm>
            <a:off x="8092440" y="2788920"/>
            <a:ext cx="324612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Bugun o'rgangan barcha terminlarni daftaringizga yozing va har biri bilan bittadan inglizcha gap tuzing.</a:t>
            </a:r>
            <a:endParaRPr lang="en-US" sz="1500" dirty="0"/>
          </a:p>
        </p:txBody>
      </p:sp>
      <p:sp>
        <p:nvSpPr>
          <p:cNvPr id="26" name="Shape 22"/>
          <p:cNvSpPr/>
          <p:nvPr/>
        </p:nvSpPr>
        <p:spPr>
          <a:xfrm>
            <a:off x="8092440" y="5029200"/>
            <a:ext cx="3246120" cy="777240"/>
          </a:xfrm>
          <a:prstGeom prst="roundRect">
            <a:avLst>
              <a:gd name="adj" fmla="val 11765"/>
            </a:avLst>
          </a:prstGeom>
          <a:solidFill>
            <a:srgbClr val="FFFFFF">
              <a:alpha val="88000"/>
            </a:srgbClr>
          </a:solidFill>
          <a:ln/>
        </p:spPr>
      </p:sp>
      <p:sp>
        <p:nvSpPr>
          <p:cNvPr id="27" name="Text 23"/>
          <p:cNvSpPr/>
          <p:nvPr/>
        </p:nvSpPr>
        <p:spPr>
          <a:xfrm>
            <a:off x="8092440" y="5029200"/>
            <a:ext cx="32461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Keyingi darsda tekshiramiz!</a:t>
            </a:r>
            <a:endParaRPr lang="en-US" sz="1400" dirty="0"/>
          </a:p>
        </p:txBody>
      </p:sp>
      <p:sp>
        <p:nvSpPr>
          <p:cNvPr id="28" name="Text 24"/>
          <p:cNvSpPr/>
          <p:nvPr/>
        </p:nvSpPr>
        <p:spPr>
          <a:xfrm>
            <a:off x="548640" y="64008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B2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«IT Shaharcha»</a:t>
            </a:r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IT English · 17-dars</a:t>
            </a:r>
            <a:endParaRPr lang="en-US" sz="900" dirty="0"/>
          </a:p>
        </p:txBody>
      </p:sp>
      <p:sp>
        <p:nvSpPr>
          <p:cNvPr id="29" name="Text 25"/>
          <p:cNvSpPr/>
          <p:nvPr/>
        </p:nvSpPr>
        <p:spPr>
          <a:xfrm>
            <a:off x="10728655" y="640080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9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41F5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280160" y="-1463040"/>
            <a:ext cx="4114800" cy="4114800"/>
          </a:xfrm>
          <a:prstGeom prst="ellipse">
            <a:avLst/>
          </a:prstGeom>
          <a:solidFill>
            <a:srgbClr val="6A2C91">
              <a:alpha val="2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0058400" y="4206240"/>
            <a:ext cx="3657600" cy="3657600"/>
          </a:xfrm>
          <a:prstGeom prst="ellipse">
            <a:avLst/>
          </a:prstGeom>
          <a:solidFill>
            <a:srgbClr val="E6007E">
              <a:alpha val="2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10637215" y="457200"/>
            <a:ext cx="960120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8895B3">
                <a:alpha val="22000"/>
              </a:srgbClr>
            </a:outerShdw>
          </a:effectLst>
        </p:spPr>
      </p:sp>
      <p:pic>
        <p:nvPicPr>
          <p:cNvPr id="5" name="Image 0" descr="/sessions/epic-sharp-feynman/mnt/it_inglish/logo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710367" y="530352"/>
            <a:ext cx="813816" cy="813816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640080" y="64008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Esda saqlang</a:t>
            </a:r>
            <a:endParaRPr lang="en-US" sz="4000" dirty="0"/>
          </a:p>
        </p:txBody>
      </p:sp>
      <p:sp>
        <p:nvSpPr>
          <p:cNvPr id="7" name="Shape 4"/>
          <p:cNvSpPr/>
          <p:nvPr/>
        </p:nvSpPr>
        <p:spPr>
          <a:xfrm>
            <a:off x="685800" y="1554480"/>
            <a:ext cx="146304" cy="146304"/>
          </a:xfrm>
          <a:prstGeom prst="ellipse">
            <a:avLst/>
          </a:prstGeom>
          <a:solidFill>
            <a:srgbClr val="E6007E"/>
          </a:solidFill>
          <a:ln/>
        </p:spPr>
      </p:sp>
      <p:sp>
        <p:nvSpPr>
          <p:cNvPr id="8" name="Shape 5"/>
          <p:cNvSpPr/>
          <p:nvPr/>
        </p:nvSpPr>
        <p:spPr>
          <a:xfrm>
            <a:off x="1051560" y="1554480"/>
            <a:ext cx="146304" cy="146304"/>
          </a:xfrm>
          <a:prstGeom prst="ellipse">
            <a:avLst/>
          </a:prstGeom>
          <a:solidFill>
            <a:srgbClr val="6A2C91"/>
          </a:solidFill>
          <a:ln/>
        </p:spPr>
      </p:sp>
      <p:sp>
        <p:nvSpPr>
          <p:cNvPr id="9" name="Shape 6"/>
          <p:cNvSpPr/>
          <p:nvPr/>
        </p:nvSpPr>
        <p:spPr>
          <a:xfrm>
            <a:off x="1417320" y="1554480"/>
            <a:ext cx="146304" cy="146304"/>
          </a:xfrm>
          <a:prstGeom prst="ellipse">
            <a:avLst/>
          </a:prstGeom>
          <a:solidFill>
            <a:srgbClr val="E8541E"/>
          </a:solidFill>
          <a:ln/>
        </p:spPr>
      </p:sp>
      <p:sp>
        <p:nvSpPr>
          <p:cNvPr id="10" name="Shape 7"/>
          <p:cNvSpPr/>
          <p:nvPr/>
        </p:nvSpPr>
        <p:spPr>
          <a:xfrm>
            <a:off x="1783080" y="1554480"/>
            <a:ext cx="146304" cy="146304"/>
          </a:xfrm>
          <a:prstGeom prst="ellipse">
            <a:avLst/>
          </a:prstGeom>
          <a:solidFill>
            <a:srgbClr val="3AA935"/>
          </a:solidFill>
          <a:ln/>
        </p:spPr>
      </p:sp>
      <p:sp>
        <p:nvSpPr>
          <p:cNvPr id="11" name="Shape 8"/>
          <p:cNvSpPr/>
          <p:nvPr/>
        </p:nvSpPr>
        <p:spPr>
          <a:xfrm>
            <a:off x="2148840" y="1554480"/>
            <a:ext cx="146304" cy="146304"/>
          </a:xfrm>
          <a:prstGeom prst="ellipse">
            <a:avLst/>
          </a:prstGeom>
          <a:solidFill>
            <a:srgbClr val="00A0E0"/>
          </a:solidFill>
          <a:ln/>
        </p:spPr>
      </p:sp>
      <p:sp>
        <p:nvSpPr>
          <p:cNvPr id="12" name="Shape 9"/>
          <p:cNvSpPr/>
          <p:nvPr/>
        </p:nvSpPr>
        <p:spPr>
          <a:xfrm>
            <a:off x="2514600" y="1554480"/>
            <a:ext cx="146304" cy="146304"/>
          </a:xfrm>
          <a:prstGeom prst="ellipse">
            <a:avLst/>
          </a:prstGeom>
          <a:solidFill>
            <a:srgbClr val="F4AD00"/>
          </a:solidFill>
          <a:ln/>
        </p:spPr>
      </p:sp>
      <p:sp>
        <p:nvSpPr>
          <p:cNvPr id="13" name="Shape 10"/>
          <p:cNvSpPr/>
          <p:nvPr/>
        </p:nvSpPr>
        <p:spPr>
          <a:xfrm>
            <a:off x="640080" y="2148840"/>
            <a:ext cx="10881360" cy="841248"/>
          </a:xfrm>
          <a:prstGeom prst="roundRect">
            <a:avLst>
              <a:gd name="adj" fmla="val 10870"/>
            </a:avLst>
          </a:prstGeom>
          <a:solidFill>
            <a:srgbClr val="FFFFFF">
              <a:alpha val="10000"/>
            </a:srgbClr>
          </a:solidFill>
          <a:ln/>
        </p:spPr>
      </p:sp>
      <p:sp>
        <p:nvSpPr>
          <p:cNvPr id="14" name="Shape 11"/>
          <p:cNvSpPr/>
          <p:nvPr/>
        </p:nvSpPr>
        <p:spPr>
          <a:xfrm>
            <a:off x="868680" y="2295144"/>
            <a:ext cx="548640" cy="548640"/>
          </a:xfrm>
          <a:prstGeom prst="ellipse">
            <a:avLst/>
          </a:prstGeom>
          <a:solidFill>
            <a:srgbClr val="E6007E"/>
          </a:solidFill>
          <a:ln/>
        </p:spPr>
      </p:sp>
      <p:pic>
        <p:nvPicPr>
          <p:cNvPr id="1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4984" y="2441448"/>
            <a:ext cx="256032" cy="256032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1645920" y="2148840"/>
            <a:ext cx="96012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«Debugging English» bo'yicha 8 ta muhim termin o'rgandingiz.</a:t>
            </a:r>
            <a:endParaRPr lang="en-US" sz="1600" dirty="0"/>
          </a:p>
        </p:txBody>
      </p:sp>
      <p:sp>
        <p:nvSpPr>
          <p:cNvPr id="17" name="Shape 13"/>
          <p:cNvSpPr/>
          <p:nvPr/>
        </p:nvSpPr>
        <p:spPr>
          <a:xfrm>
            <a:off x="640080" y="3191256"/>
            <a:ext cx="10881360" cy="841248"/>
          </a:xfrm>
          <a:prstGeom prst="roundRect">
            <a:avLst>
              <a:gd name="adj" fmla="val 10870"/>
            </a:avLst>
          </a:prstGeom>
          <a:solidFill>
            <a:srgbClr val="FFFFFF">
              <a:alpha val="10000"/>
            </a:srgbClr>
          </a:solidFill>
          <a:ln/>
        </p:spPr>
      </p:sp>
      <p:sp>
        <p:nvSpPr>
          <p:cNvPr id="18" name="Shape 14"/>
          <p:cNvSpPr/>
          <p:nvPr/>
        </p:nvSpPr>
        <p:spPr>
          <a:xfrm>
            <a:off x="868680" y="3337560"/>
            <a:ext cx="548640" cy="548640"/>
          </a:xfrm>
          <a:prstGeom prst="ellipse">
            <a:avLst/>
          </a:prstGeom>
          <a:solidFill>
            <a:srgbClr val="6A2C91"/>
          </a:solidFill>
          <a:ln/>
        </p:spPr>
      </p:sp>
      <p:pic>
        <p:nvPicPr>
          <p:cNvPr id="1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4984" y="3483864"/>
            <a:ext cx="256032" cy="256032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1645920" y="3191256"/>
            <a:ext cx="96012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So'zlarni kontekst — gap ichida yodlang, alohida emas.</a:t>
            </a:r>
            <a:endParaRPr lang="en-US" sz="1600" dirty="0"/>
          </a:p>
        </p:txBody>
      </p:sp>
      <p:sp>
        <p:nvSpPr>
          <p:cNvPr id="21" name="Shape 16"/>
          <p:cNvSpPr/>
          <p:nvPr/>
        </p:nvSpPr>
        <p:spPr>
          <a:xfrm>
            <a:off x="640080" y="4233672"/>
            <a:ext cx="10881360" cy="841248"/>
          </a:xfrm>
          <a:prstGeom prst="roundRect">
            <a:avLst>
              <a:gd name="adj" fmla="val 10870"/>
            </a:avLst>
          </a:prstGeom>
          <a:solidFill>
            <a:srgbClr val="FFFFFF">
              <a:alpha val="10000"/>
            </a:srgbClr>
          </a:solidFill>
          <a:ln/>
        </p:spPr>
      </p:sp>
      <p:sp>
        <p:nvSpPr>
          <p:cNvPr id="22" name="Shape 17"/>
          <p:cNvSpPr/>
          <p:nvPr/>
        </p:nvSpPr>
        <p:spPr>
          <a:xfrm>
            <a:off x="868680" y="4379976"/>
            <a:ext cx="548640" cy="548640"/>
          </a:xfrm>
          <a:prstGeom prst="ellipse">
            <a:avLst/>
          </a:prstGeom>
          <a:solidFill>
            <a:srgbClr val="E8541E"/>
          </a:solidFill>
          <a:ln/>
        </p:spPr>
      </p:sp>
      <p:pic>
        <p:nvPicPr>
          <p:cNvPr id="2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4984" y="4526280"/>
            <a:ext cx="256032" cy="256032"/>
          </a:xfrm>
          <a:prstGeom prst="rect">
            <a:avLst/>
          </a:prstGeom>
        </p:spPr>
      </p:pic>
      <p:sp>
        <p:nvSpPr>
          <p:cNvPr id="24" name="Text 18"/>
          <p:cNvSpPr/>
          <p:nvPr/>
        </p:nvSpPr>
        <p:spPr>
          <a:xfrm>
            <a:off x="1645920" y="4233672"/>
            <a:ext cx="96012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Kod, hujjat va ish — barchasi ingliz tilini talab qiladi.</a:t>
            </a:r>
            <a:endParaRPr lang="en-US" sz="1600" dirty="0"/>
          </a:p>
        </p:txBody>
      </p:sp>
      <p:sp>
        <p:nvSpPr>
          <p:cNvPr id="25" name="Shape 19"/>
          <p:cNvSpPr/>
          <p:nvPr/>
        </p:nvSpPr>
        <p:spPr>
          <a:xfrm>
            <a:off x="640080" y="5276088"/>
            <a:ext cx="10881360" cy="841248"/>
          </a:xfrm>
          <a:prstGeom prst="roundRect">
            <a:avLst>
              <a:gd name="adj" fmla="val 10870"/>
            </a:avLst>
          </a:prstGeom>
          <a:solidFill>
            <a:srgbClr val="FFFFFF">
              <a:alpha val="10000"/>
            </a:srgbClr>
          </a:solidFill>
          <a:ln/>
        </p:spPr>
      </p:sp>
      <p:sp>
        <p:nvSpPr>
          <p:cNvPr id="26" name="Shape 20"/>
          <p:cNvSpPr/>
          <p:nvPr/>
        </p:nvSpPr>
        <p:spPr>
          <a:xfrm>
            <a:off x="868680" y="5422392"/>
            <a:ext cx="548640" cy="548640"/>
          </a:xfrm>
          <a:prstGeom prst="ellipse">
            <a:avLst/>
          </a:prstGeom>
          <a:solidFill>
            <a:srgbClr val="3AA935"/>
          </a:solidFill>
          <a:ln/>
        </p:spPr>
      </p:sp>
      <p:pic>
        <p:nvPicPr>
          <p:cNvPr id="27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14984" y="5568696"/>
            <a:ext cx="256032" cy="256032"/>
          </a:xfrm>
          <a:prstGeom prst="rect">
            <a:avLst/>
          </a:prstGeom>
        </p:spPr>
      </p:pic>
      <p:sp>
        <p:nvSpPr>
          <p:cNvPr id="28" name="Text 21"/>
          <p:cNvSpPr/>
          <p:nvPr/>
        </p:nvSpPr>
        <p:spPr>
          <a:xfrm>
            <a:off x="1645920" y="5276088"/>
            <a:ext cx="96012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Bug, Debug va Breakpoint kabi so'zlarni ishlatib ko'ring.</a:t>
            </a:r>
            <a:endParaRPr lang="en-US" sz="1600" dirty="0"/>
          </a:p>
        </p:txBody>
      </p:sp>
      <p:sp>
        <p:nvSpPr>
          <p:cNvPr id="29" name="Text 22"/>
          <p:cNvSpPr/>
          <p:nvPr/>
        </p:nvSpPr>
        <p:spPr>
          <a:xfrm>
            <a:off x="640080" y="6172200"/>
            <a:ext cx="10972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AEB7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Rahmat! Mashq qilishni unutmang.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Debugging English</dc:title>
  <dc:subject>PptxGenJS Presentation</dc:subject>
  <dc:creator>IT Shaharcha</dc:creator>
  <cp:lastModifiedBy>IT Shaharcha</cp:lastModifiedBy>
  <cp:revision>1</cp:revision>
  <dcterms:created xsi:type="dcterms:W3CDTF">2026-06-17T02:15:31Z</dcterms:created>
  <dcterms:modified xsi:type="dcterms:W3CDTF">2026-06-17T02:15:31Z</dcterms:modified>
</cp:coreProperties>
</file>